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metadata" ContentType="application/binary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 autoCompressPictures="0">
  <p:sldMasterIdLst>
    <p:sldMasterId id="2147483648" r:id="rId1"/>
  </p:sldMasterIdLst>
  <p:notesMasterIdLst>
    <p:notesMasterId r:id="rId1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sldSz cx="12192000" cy="6858000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GoogleSlidesCustomDataVersion2">
      <go:slidesCustomData xmlns:go="http://customooxmlschemas.google.com/" xmlns:ahyp="http://schemas.microsoft.com/office/drawing/2018/hyperlinkcolor" xmlns:p15="http://schemas.microsoft.com/office/powerpoint/2012/main" xmlns:p14="http://schemas.microsoft.com/office/powerpoint/2010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:mc="http://schemas.openxmlformats.org/markup-compatibility/2006" xmlns="" r:id="rId17" roundtripDataSignature="AMtx7mgQuomGbdS/wh2yqkB/K4YAZ70YAw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79" d="100"/>
          <a:sy n="79" d="100"/>
        </p:scale>
        <p:origin x="101" y="32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customschemas.google.com/relationships/presentationmetadata" Target="metadata"/><Relationship Id="rId2" Type="http://schemas.openxmlformats.org/officeDocument/2006/relationships/slide" Target="slides/slide1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>
            <a:spLocks noGrp="1"/>
          </p:cNvSpPr>
          <p:nvPr>
            <p:ph type="hdr" idx="2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4" name="Google Shape;4;n"/>
          <p:cNvSpPr txBox="1">
            <a:spLocks noGrp="1"/>
          </p:cNvSpPr>
          <p:nvPr>
            <p:ph type="dt" idx="10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" name="Google Shape;5;n"/>
          <p:cNvSpPr>
            <a:spLocks noGrp="1" noRot="1" noChangeAspect="1"/>
          </p:cNvSpPr>
          <p:nvPr>
            <p:ph type="sldImg" idx="3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" name="Google Shape;6;n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" name="Google Shape;7;n"/>
          <p:cNvSpPr txBox="1">
            <a:spLocks noGrp="1"/>
          </p:cNvSpPr>
          <p:nvPr>
            <p:ph type="ftr" idx="11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n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87" name="Google Shape;87;p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p1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1</a:t>
            </a:fld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9" name="Google Shape;99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5" name="Google Shape;105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1" name="Google Shape;111;p4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7" name="Google Shape;117;p5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" name="Google Shape;122;p6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3" name="Google Shape;123;p6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7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9" name="Google Shape;129;p7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8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5" name="Google Shape;135;p8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9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1" name="Google Shape;141;p9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1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7" name="Google Shape;147;p10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" name="Google Shape;152;p1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3" name="Google Shape;153;p1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2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59" name="Google Shape;159;p1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Closing slide. Add the Google Form URL and a contact email before sharing. Edition 2 organising team for reference: Language AI - Sourabh Tiwari, Gaurav, Sanjeeth Pothireddy, Gorang Maniar; PRISM - Binny Lakra, Prakhar Chandrakar, Vishu Kumar; Kick-off and mentors - Giridhar Jakki, Deepraj Prabhakar Patkar (Language AI), Srimanu Prasad Nagaraju, Ashish Kumar (Tech Strategy).</a:t>
            </a:r>
            <a:endParaRPr/>
          </a:p>
        </p:txBody>
      </p:sp>
      <p:sp>
        <p:nvSpPr>
          <p:cNvPr id="160" name="Google Shape;160;p12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12</a:t>
            </a:fld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DEFAULT">
  <p:cSld name="DEFAULT">
    <p:bg>
      <p:bgPr>
        <a:solidFill>
          <a:schemeClr val="lt1"/>
        </a:solidFill>
        <a:effectLst/>
      </p:bgPr>
    </p:bg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" type="obj">
  <p:cSld name="OBJECT"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15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8" name="Google Shape;18;p15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9" name="Google Shape;19;p15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0" name="Google Shape;20;p15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1" name="Google Shape;21;p15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Google Shape;23;p16"/>
          <p:cNvSpPr txBox="1"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Calibri"/>
              <a:buNone/>
              <a:defRPr sz="6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4" name="Google Shape;24;p16"/>
          <p:cNvSpPr txBox="1"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/>
            </a:lvl1pPr>
            <a:lvl2pPr lvl="1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2pPr>
            <a:lvl3pPr lvl="2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4pPr>
            <a:lvl5pPr lvl="4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>
            <a:endParaRPr/>
          </a:p>
        </p:txBody>
      </p:sp>
      <p:sp>
        <p:nvSpPr>
          <p:cNvPr id="25" name="Google Shape;25;p16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6" name="Google Shape;26;p16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16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17"/>
          <p:cNvSpPr txBox="1"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Calibri"/>
              <a:buNone/>
              <a:defRPr sz="6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0" name="Google Shape;30;p17"/>
          <p:cNvSpPr txBox="1"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 sz="2400">
                <a:solidFill>
                  <a:srgbClr val="888888"/>
                </a:solidFill>
              </a:defRPr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31" name="Google Shape;31;p17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2" name="Google Shape;32;p17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3" name="Google Shape;33;p17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Content" type="twoObj">
  <p:cSld name="TWO_OBJECTS">
    <p:spTree>
      <p:nvGrpSpPr>
        <p:cNvPr id="1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18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6" name="Google Shape;36;p18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7" name="Google Shape;37;p18"/>
          <p:cNvSpPr txBox="1">
            <a:spLocks noGrp="1"/>
          </p:cNvSpPr>
          <p:nvPr>
            <p:ph type="body" idx="2"/>
          </p:nvPr>
        </p:nvSpPr>
        <p:spPr>
          <a:xfrm>
            <a:off x="6172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8" name="Google Shape;38;p18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9" name="Google Shape;39;p18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0" name="Google Shape;40;p18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ison" type="twoTxTwoObj">
  <p:cSld name="TWO_OBJECTS_WITH_TEXT"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9"/>
          <p:cNvSpPr txBox="1"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3" name="Google Shape;43;p19"/>
          <p:cNvSpPr txBox="1"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4" name="Google Shape;44;p19"/>
          <p:cNvSpPr txBox="1">
            <a:spLocks noGrp="1"/>
          </p:cNvSpPr>
          <p:nvPr>
            <p:ph type="body" idx="2"/>
          </p:nvPr>
        </p:nvSpPr>
        <p:spPr>
          <a:xfrm>
            <a:off x="839788" y="2505075"/>
            <a:ext cx="5157787" cy="3684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5" name="Google Shape;45;p19"/>
          <p:cNvSpPr txBox="1">
            <a:spLocks noGrp="1"/>
          </p:cNvSpPr>
          <p:nvPr>
            <p:ph type="body" idx="3"/>
          </p:nvPr>
        </p:nvSpPr>
        <p:spPr>
          <a:xfrm>
            <a:off x="6172200" y="1681163"/>
            <a:ext cx="5183188" cy="823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6" name="Google Shape;46;p19"/>
          <p:cNvSpPr txBox="1">
            <a:spLocks noGrp="1"/>
          </p:cNvSpPr>
          <p:nvPr>
            <p:ph type="body" idx="4"/>
          </p:nvPr>
        </p:nvSpPr>
        <p:spPr>
          <a:xfrm>
            <a:off x="6172200" y="2505075"/>
            <a:ext cx="5183188" cy="3684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7" name="Google Shape;47;p19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8" name="Google Shape;48;p19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9" name="Google Shape;49;p19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20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2" name="Google Shape;52;p20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3" name="Google Shape;53;p20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4" name="Google Shape;54;p20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1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7" name="Google Shape;57;p21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8" name="Google Shape;58;p21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 with Caption" type="objTx">
  <p:cSld name="OBJECT_WITH_CAPTION_TEXT">
    <p:spTree>
      <p:nvGrpSpPr>
        <p:cNvPr id="1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22"/>
          <p:cNvSpPr txBox="1"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1" name="Google Shape;61;p22"/>
          <p:cNvSpPr txBox="1">
            <a:spLocks noGrp="1"/>
          </p:cNvSpPr>
          <p:nvPr>
            <p:ph type="body" idx="1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318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marL="914400" lvl="1" indent="-406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2pPr>
            <a:lvl3pPr marL="1371600" lvl="2" indent="-381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marL="1828800" lvl="3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4pPr>
            <a:lvl5pPr marL="2286000" lvl="4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5pPr>
            <a:lvl6pPr marL="2743200" lvl="5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marL="3200400" lvl="6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marL="3657600" lvl="7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marL="4114800" lvl="8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>
            <a:endParaRPr/>
          </a:p>
        </p:txBody>
      </p:sp>
      <p:sp>
        <p:nvSpPr>
          <p:cNvPr id="62" name="Google Shape;62;p22"/>
          <p:cNvSpPr txBox="1">
            <a:spLocks noGrp="1"/>
          </p:cNvSpPr>
          <p:nvPr>
            <p:ph type="body" idx="2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>
            <a:endParaRPr/>
          </a:p>
        </p:txBody>
      </p:sp>
      <p:sp>
        <p:nvSpPr>
          <p:cNvPr id="63" name="Google Shape;63;p22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4" name="Google Shape;64;p22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5" name="Google Shape;65;p22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icture with Caption" type="picTx">
  <p:cSld name="PICTURE_WITH_CAPTION_TEXT">
    <p:spTree>
      <p:nvGrpSpPr>
        <p:cNvPr id="1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23"/>
          <p:cNvSpPr txBox="1"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8" name="Google Shape;68;p23"/>
          <p:cNvSpPr>
            <a:spLocks noGrp="1"/>
          </p:cNvSpPr>
          <p:nvPr>
            <p:ph type="pic" idx="2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</p:sp>
      <p:sp>
        <p:nvSpPr>
          <p:cNvPr id="69" name="Google Shape;69;p23"/>
          <p:cNvSpPr txBox="1">
            <a:spLocks noGrp="1"/>
          </p:cNvSpPr>
          <p:nvPr>
            <p:ph type="body" idx="1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>
            <a:endParaRPr/>
          </a:p>
        </p:txBody>
      </p:sp>
      <p:sp>
        <p:nvSpPr>
          <p:cNvPr id="70" name="Google Shape;70;p23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1" name="Google Shape;71;p23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2" name="Google Shape;72;p23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Vertical Text" type="vertTx">
  <p:cSld name="VERTICAL_TEXT">
    <p:spTree>
      <p:nvGrpSpPr>
        <p:cNvPr id="1" name="Shape 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" name="Google Shape;74;p24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5" name="Google Shape;75;p24"/>
          <p:cNvSpPr txBox="1">
            <a:spLocks noGrp="1"/>
          </p:cNvSpPr>
          <p:nvPr>
            <p:ph type="body" idx="1"/>
          </p:nvPr>
        </p:nvSpPr>
        <p:spPr>
          <a:xfrm rot="5400000">
            <a:off x="3920331" y="-1256506"/>
            <a:ext cx="4351338" cy="1051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6" name="Google Shape;76;p24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7" name="Google Shape;77;p24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8" name="Google Shape;78;p24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Vertical Title and Text" type="vertTitleAndTx">
  <p:cSld name="VERTICAL_TITLE_AND_VERTICAL_TEXT">
    <p:spTree>
      <p:nvGrpSpPr>
        <p:cNvPr id="1" name="Shape 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Google Shape;80;p25"/>
          <p:cNvSpPr txBox="1">
            <a:spLocks noGrp="1"/>
          </p:cNvSpPr>
          <p:nvPr>
            <p:ph type="title"/>
          </p:nvPr>
        </p:nvSpPr>
        <p:spPr>
          <a:xfrm rot="5400000">
            <a:off x="7133431" y="1956594"/>
            <a:ext cx="5811838" cy="262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1" name="Google Shape;81;p25"/>
          <p:cNvSpPr txBox="1">
            <a:spLocks noGrp="1"/>
          </p:cNvSpPr>
          <p:nvPr>
            <p:ph type="body" idx="1"/>
          </p:nvPr>
        </p:nvSpPr>
        <p:spPr>
          <a:xfrm rot="5400000">
            <a:off x="1799431" y="-596106"/>
            <a:ext cx="5811838" cy="773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82" name="Google Shape;82;p25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3" name="Google Shape;83;p25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4" name="Google Shape;84;p25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3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sz="4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11" name="Google Shape;11;p13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4064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2" name="Google Shape;12;p13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3" name="Google Shape;13;p13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4" name="Google Shape;14;p13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p1"/>
          <p:cNvSpPr/>
          <p:nvPr/>
        </p:nvSpPr>
        <p:spPr>
          <a:xfrm>
            <a:off x="777240" y="676656"/>
            <a:ext cx="2423160" cy="34747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 cap="flat" cmpd="sng">
            <a:solidFill>
              <a:srgbClr val="D9D3F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1" name="Google Shape;91;p1"/>
          <p:cNvSpPr txBox="1"/>
          <p:nvPr/>
        </p:nvSpPr>
        <p:spPr>
          <a:xfrm>
            <a:off x="777240" y="676656"/>
            <a:ext cx="2423160" cy="3474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6D28D9"/>
              </a:buClr>
              <a:buSzPts val="1100"/>
              <a:buFont typeface="Arial"/>
              <a:buNone/>
            </a:pPr>
            <a:r>
              <a:rPr lang="en-US" sz="1100" b="1" i="0" u="none" strike="noStrike" cap="none">
                <a:solidFill>
                  <a:srgbClr val="6D28D9"/>
                </a:solidFill>
                <a:latin typeface="Arial"/>
                <a:ea typeface="Arial"/>
                <a:cs typeface="Arial"/>
                <a:sym typeface="Arial"/>
              </a:rPr>
              <a:t>SAMSUNG PRISM</a:t>
            </a:r>
            <a:endParaRPr sz="1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2" name="Google Shape;92;p1"/>
          <p:cNvSpPr txBox="1"/>
          <p:nvPr/>
        </p:nvSpPr>
        <p:spPr>
          <a:xfrm>
            <a:off x="777240" y="1207008"/>
            <a:ext cx="6126480" cy="74980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4142B"/>
              </a:buClr>
              <a:buSzPts val="5000"/>
              <a:buFont typeface="Arial"/>
              <a:buNone/>
            </a:pPr>
            <a:r>
              <a:rPr lang="en-US" sz="5000" b="1" i="0" u="none" strike="noStrike" cap="none">
                <a:solidFill>
                  <a:srgbClr val="14142B"/>
                </a:solidFill>
                <a:latin typeface="Arial"/>
                <a:ea typeface="Arial"/>
                <a:cs typeface="Arial"/>
                <a:sym typeface="Arial"/>
              </a:rPr>
              <a:t>Generative AI</a:t>
            </a:r>
            <a:endParaRPr sz="50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3" name="Google Shape;93;p1"/>
          <p:cNvSpPr txBox="1"/>
          <p:nvPr/>
        </p:nvSpPr>
        <p:spPr>
          <a:xfrm>
            <a:off x="777240" y="1901952"/>
            <a:ext cx="6126480" cy="74980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D28D9"/>
              </a:buClr>
              <a:buSzPts val="5000"/>
              <a:buFont typeface="Arial"/>
              <a:buNone/>
            </a:pPr>
            <a:r>
              <a:rPr lang="en-US" sz="5000" b="1" i="0" u="none" strike="noStrike" cap="none">
                <a:solidFill>
                  <a:srgbClr val="6D28D9"/>
                </a:solidFill>
                <a:latin typeface="Arial"/>
                <a:ea typeface="Arial"/>
                <a:cs typeface="Arial"/>
                <a:sym typeface="Arial"/>
              </a:rPr>
              <a:t>Hackathon</a:t>
            </a:r>
            <a:endParaRPr sz="50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4" name="Google Shape;94;p1"/>
          <p:cNvSpPr txBox="1"/>
          <p:nvPr/>
        </p:nvSpPr>
        <p:spPr>
          <a:xfrm>
            <a:off x="777240" y="2724912"/>
            <a:ext cx="612648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4142B"/>
              </a:buClr>
              <a:buSzPts val="2500"/>
              <a:buFont typeface="Arial"/>
              <a:buNone/>
            </a:pPr>
            <a:r>
              <a:rPr lang="en-US" sz="2500" b="1" i="0" u="none" strike="noStrike" cap="none">
                <a:solidFill>
                  <a:srgbClr val="14142B"/>
                </a:solidFill>
                <a:latin typeface="Arial"/>
                <a:ea typeface="Arial"/>
                <a:cs typeface="Arial"/>
                <a:sym typeface="Arial"/>
              </a:rPr>
              <a:t>3rd Edition</a:t>
            </a:r>
            <a:r>
              <a:rPr lang="en-US" sz="2000" b="0" i="0" u="none" strike="noStrike" cap="none">
                <a:solidFill>
                  <a:srgbClr val="63637E"/>
                </a:solidFill>
                <a:latin typeface="Calibri"/>
                <a:ea typeface="Calibri"/>
                <a:cs typeface="Calibri"/>
                <a:sym typeface="Calibri"/>
              </a:rPr>
              <a:t>   2026 – 27</a:t>
            </a:r>
            <a:endParaRPr sz="25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5" name="Google Shape;95;p1"/>
          <p:cNvSpPr txBox="1"/>
          <p:nvPr/>
        </p:nvSpPr>
        <p:spPr>
          <a:xfrm>
            <a:off x="777239" y="3310127"/>
            <a:ext cx="8619679" cy="30083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177800" marR="0" lvl="0" indent="-17780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63637E"/>
              </a:buClr>
              <a:buSzPts val="1600"/>
              <a:buFont typeface="Calibri"/>
              <a:buChar char="•"/>
            </a:pPr>
            <a:r>
              <a:rPr sz="1700" dirty="0">
                <a:solidFill>
                  <a:srgbClr val="63637E"/>
                </a:solidFill>
              </a:rPr>
              <a:t>Theme ID - Theme 01: Agentic Code Intelligence</a:t>
            </a:r>
            <a:endParaRPr sz="1700" dirty="0"/>
          </a:p>
          <a:p>
            <a:pPr marL="177800" marR="0" lvl="0" indent="-177800" algn="l" rtl="0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Clr>
                <a:srgbClr val="63637E"/>
              </a:buClr>
              <a:buSzPts val="1600"/>
              <a:buFont typeface="Calibri"/>
              <a:buChar char="•"/>
            </a:pPr>
            <a:r>
              <a:rPr sz="1700" dirty="0">
                <a:solidFill>
                  <a:srgbClr val="63637E"/>
                </a:solidFill>
              </a:rPr>
              <a:t>Team Name - Shard</a:t>
            </a:r>
            <a:endParaRPr sz="1700" dirty="0"/>
          </a:p>
          <a:p>
            <a:pPr marL="177800" marR="0" lvl="0" indent="-177800" algn="l" rtl="0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Clr>
                <a:srgbClr val="63637E"/>
              </a:buClr>
              <a:buSzPts val="1600"/>
              <a:buFont typeface="Calibri"/>
              <a:buChar char="•"/>
            </a:pPr>
            <a:r>
              <a:rPr sz="1700" dirty="0">
                <a:solidFill>
                  <a:srgbClr val="63637E"/>
                </a:solidFill>
              </a:rPr>
              <a:t>College Name - VIT Vellore</a:t>
            </a:r>
            <a:endParaRPr sz="1700" dirty="0"/>
          </a:p>
          <a:p>
            <a:pPr marL="177800" marR="0" lvl="0" indent="-177800" algn="l" rtl="0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Clr>
                <a:srgbClr val="63637E"/>
              </a:buClr>
              <a:buSzPts val="1600"/>
              <a:buFont typeface="Calibri"/>
              <a:buChar char="•"/>
            </a:pPr>
            <a:r>
              <a:rPr sz="1700" dirty="0">
                <a:solidFill>
                  <a:srgbClr val="63637E"/>
                </a:solidFill>
              </a:rPr>
              <a:t>Member Name &amp; Email 1 </a:t>
            </a:r>
            <a:r>
              <a:rPr lang="en-IN" sz="1700" dirty="0">
                <a:solidFill>
                  <a:srgbClr val="63637E"/>
                </a:solidFill>
              </a:rPr>
              <a:t>–</a:t>
            </a:r>
            <a:r>
              <a:rPr sz="1700" dirty="0">
                <a:solidFill>
                  <a:srgbClr val="63637E"/>
                </a:solidFill>
              </a:rPr>
              <a:t> </a:t>
            </a:r>
            <a:r>
              <a:rPr lang="en-US" sz="1700" dirty="0" err="1">
                <a:solidFill>
                  <a:srgbClr val="63637E"/>
                </a:solidFill>
              </a:rPr>
              <a:t>Samyakk</a:t>
            </a:r>
            <a:r>
              <a:rPr lang="en-US" sz="1700" dirty="0">
                <a:solidFill>
                  <a:srgbClr val="63637E"/>
                </a:solidFill>
              </a:rPr>
              <a:t> Jain</a:t>
            </a:r>
            <a:r>
              <a:rPr sz="1700" dirty="0">
                <a:solidFill>
                  <a:srgbClr val="63637E"/>
                </a:solidFill>
              </a:rPr>
              <a:t>&lt;</a:t>
            </a:r>
            <a:r>
              <a:rPr lang="en-US" sz="1700" dirty="0">
                <a:solidFill>
                  <a:srgbClr val="63637E"/>
                </a:solidFill>
              </a:rPr>
              <a:t>samyakkjain29@gmail.com</a:t>
            </a:r>
            <a:r>
              <a:rPr sz="1700" dirty="0">
                <a:solidFill>
                  <a:srgbClr val="63637E"/>
                </a:solidFill>
              </a:rPr>
              <a:t>&gt;</a:t>
            </a:r>
            <a:endParaRPr sz="1700" dirty="0"/>
          </a:p>
          <a:p>
            <a:pPr marL="177800" marR="0" lvl="0" indent="-177800" algn="l" rtl="0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Clr>
                <a:srgbClr val="63637E"/>
              </a:buClr>
              <a:buSzPts val="1600"/>
              <a:buFont typeface="Calibri"/>
              <a:buChar char="•"/>
            </a:pPr>
            <a:r>
              <a:rPr sz="1700" dirty="0">
                <a:solidFill>
                  <a:srgbClr val="63637E"/>
                </a:solidFill>
              </a:rPr>
              <a:t>Member Name &amp; Email 2 </a:t>
            </a:r>
            <a:r>
              <a:rPr lang="en-IN" sz="1700" dirty="0">
                <a:solidFill>
                  <a:srgbClr val="63637E"/>
                </a:solidFill>
              </a:rPr>
              <a:t>–</a:t>
            </a:r>
            <a:r>
              <a:rPr sz="1700" dirty="0">
                <a:solidFill>
                  <a:srgbClr val="63637E"/>
                </a:solidFill>
              </a:rPr>
              <a:t> </a:t>
            </a:r>
            <a:r>
              <a:rPr lang="en-US" sz="1700" dirty="0">
                <a:solidFill>
                  <a:srgbClr val="63637E"/>
                </a:solidFill>
              </a:rPr>
              <a:t>Soumya Sharma</a:t>
            </a:r>
            <a:r>
              <a:rPr sz="1700" dirty="0">
                <a:solidFill>
                  <a:srgbClr val="63637E"/>
                </a:solidFill>
              </a:rPr>
              <a:t>&lt;</a:t>
            </a:r>
            <a:r>
              <a:rPr lang="en-US" sz="1700" dirty="0">
                <a:solidFill>
                  <a:srgbClr val="63637E"/>
                </a:solidFill>
              </a:rPr>
              <a:t>soumya122006@gmail.com</a:t>
            </a:r>
            <a:r>
              <a:rPr sz="1700" dirty="0">
                <a:solidFill>
                  <a:srgbClr val="63637E"/>
                </a:solidFill>
              </a:rPr>
              <a:t>&gt;</a:t>
            </a:r>
            <a:endParaRPr sz="1700" dirty="0"/>
          </a:p>
          <a:p>
            <a:pPr marL="177800" marR="0" lvl="0" indent="-177800" algn="l" rtl="0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Clr>
                <a:srgbClr val="63637E"/>
              </a:buClr>
              <a:buSzPts val="1600"/>
              <a:buFont typeface="Calibri"/>
              <a:buChar char="•"/>
            </a:pPr>
            <a:r>
              <a:rPr sz="1700" dirty="0">
                <a:solidFill>
                  <a:srgbClr val="63637E"/>
                </a:solidFill>
              </a:rPr>
              <a:t>Member Name &amp; Email 3 </a:t>
            </a:r>
            <a:r>
              <a:rPr lang="en-IN" sz="1700" dirty="0">
                <a:solidFill>
                  <a:srgbClr val="63637E"/>
                </a:solidFill>
              </a:rPr>
              <a:t>–</a:t>
            </a:r>
            <a:r>
              <a:rPr sz="1700" dirty="0">
                <a:solidFill>
                  <a:srgbClr val="63637E"/>
                </a:solidFill>
              </a:rPr>
              <a:t> </a:t>
            </a:r>
            <a:r>
              <a:rPr lang="en-US" sz="1700" dirty="0">
                <a:solidFill>
                  <a:srgbClr val="63637E"/>
                </a:solidFill>
              </a:rPr>
              <a:t>Daksh Gupta</a:t>
            </a:r>
            <a:r>
              <a:rPr sz="1700" dirty="0">
                <a:solidFill>
                  <a:srgbClr val="63637E"/>
                </a:solidFill>
              </a:rPr>
              <a:t>&lt;</a:t>
            </a:r>
            <a:r>
              <a:rPr lang="en-US" sz="1700" dirty="0">
                <a:solidFill>
                  <a:srgbClr val="63637E"/>
                </a:solidFill>
              </a:rPr>
              <a:t>guptadaksh130@gmail.com</a:t>
            </a:r>
            <a:r>
              <a:rPr sz="1700" dirty="0">
                <a:solidFill>
                  <a:srgbClr val="63637E"/>
                </a:solidFill>
              </a:rPr>
              <a:t>&gt;</a:t>
            </a:r>
            <a:endParaRPr sz="1700" dirty="0"/>
          </a:p>
          <a:p>
            <a:pPr marL="177800" marR="0" lvl="0" indent="-177800" algn="l" rtl="0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Clr>
                <a:srgbClr val="63637E"/>
              </a:buClr>
              <a:buSzPts val="1600"/>
              <a:buFont typeface="Calibri"/>
              <a:buChar char="•"/>
            </a:pPr>
            <a:r>
              <a:rPr sz="1700" dirty="0">
                <a:solidFill>
                  <a:srgbClr val="63637E"/>
                </a:solidFill>
              </a:rPr>
              <a:t>Submission GitHub link - github.com/soumya12-droid/</a:t>
            </a:r>
            <a:r>
              <a:rPr sz="1700" dirty="0" err="1">
                <a:solidFill>
                  <a:srgbClr val="63637E"/>
                </a:solidFill>
              </a:rPr>
              <a:t>Agentic_Code_Intelligence</a:t>
            </a:r>
            <a:endParaRPr sz="1700" dirty="0"/>
          </a:p>
          <a:p>
            <a:pPr marL="177800" marR="0" lvl="0" indent="-76200" algn="l" rtl="0"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Calibri"/>
              <a:buNone/>
            </a:pPr>
            <a:endParaRPr sz="1700" b="0" i="0" u="none" strike="noStrike" cap="none" dirty="0">
              <a:solidFill>
                <a:srgbClr val="63637E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96" name="Google Shape;96;p1" descr="hero_network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7059168" y="1051560"/>
            <a:ext cx="4572000" cy="45720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704EA6"/>
              </a:buClr>
              <a:buSzPts val="4400"/>
              <a:buFont typeface="Calibri"/>
              <a:buNone/>
            </a:pPr>
            <a:r>
              <a:rPr lang="en-US" b="1">
                <a:solidFill>
                  <a:srgbClr val="704EA6"/>
                </a:solidFill>
                <a:latin typeface="Calibri"/>
                <a:ea typeface="Calibri"/>
                <a:cs typeface="Calibri"/>
                <a:sym typeface="Calibri"/>
              </a:rPr>
              <a:t>Theme</a:t>
            </a:r>
            <a:endParaRPr/>
          </a:p>
        </p:txBody>
      </p:sp>
      <p:sp>
        <p:nvSpPr>
          <p:cNvPr id="102" name="Google Shape;102;p2"/>
          <p:cNvSpPr txBox="1">
            <a:spLocks noGrp="1"/>
          </p:cNvSpPr>
          <p:nvPr>
            <p:ph type="body" idx="1"/>
          </p:nvPr>
        </p:nvSpPr>
        <p:spPr>
          <a:xfrm>
            <a:off x="838200" y="1500000"/>
            <a:ext cx="10515600" cy="515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228600" indent="-50800" algn="l" rtl="0">
              <a:lnSpc>
                <a:spcPct val="115000"/>
              </a:lnSpc>
              <a:spcBef>
                <a:spcPts val="0"/>
              </a:spcBef>
              <a:spcAft>
                <a:spcPts val="2400"/>
              </a:spcAft>
              <a:buClr>
                <a:schemeClr val="dk1"/>
              </a:buClr>
              <a:buSzPts val="2800"/>
              <a:buNone/>
            </a:pPr>
            <a:r>
              <a:rPr sz="1600" b="1" dirty="0">
                <a:solidFill>
                  <a:srgbClr val="6D28D9"/>
                </a:solidFill>
              </a:rPr>
              <a:t>Theme 01 — Agentic Code Intelligence: retrieving the right code from a library too large for any LLM context window.</a:t>
            </a:r>
            <a:endParaRPr sz="1600" dirty="0"/>
          </a:p>
          <a:p>
            <a:pPr>
              <a:lnSpc>
                <a:spcPct val="115000"/>
              </a:lnSpc>
              <a:spcAft>
                <a:spcPts val="2400"/>
              </a:spcAft>
            </a:pPr>
            <a:r>
              <a:rPr sz="1400" b="0" dirty="0">
                <a:solidFill>
                  <a:srgbClr val="14142B"/>
                </a:solidFill>
              </a:rPr>
              <a:t>Our approach: a multi-stage hybrid retrieval pipeline — dense embeddings + BM25 fused, then cross-encoder reranked — with one core mechanism, content-addressed snippet identity, carried through the whole system:</a:t>
            </a:r>
          </a:p>
          <a:p>
            <a:pPr lvl="1">
              <a:lnSpc>
                <a:spcPct val="115000"/>
              </a:lnSpc>
              <a:spcAft>
                <a:spcPts val="2400"/>
              </a:spcAft>
            </a:pPr>
            <a:r>
              <a:rPr sz="1400" b="0" dirty="0">
                <a:solidFill>
                  <a:srgbClr val="63637E"/>
                </a:solidFill>
              </a:rPr>
              <a:t>Accuracy: query routed to a structural (AST/call-graph) or semantic path; semantic queries get dense + BM25 fused and reranked — hybrid retrieval is what moves NDCG@10, not a single embedding model alone</a:t>
            </a:r>
          </a:p>
          <a:p>
            <a:pPr lvl="1">
              <a:lnSpc>
                <a:spcPct val="115000"/>
              </a:lnSpc>
              <a:spcAft>
                <a:spcPts val="2400"/>
              </a:spcAft>
            </a:pPr>
            <a:r>
              <a:rPr sz="1400" b="0" dirty="0">
                <a:solidFill>
                  <a:srgbClr val="63637E"/>
                </a:solidFill>
              </a:rPr>
              <a:t>Versioning: </a:t>
            </a:r>
            <a:r>
              <a:rPr sz="1400" b="0" dirty="0" err="1">
                <a:solidFill>
                  <a:srgbClr val="63637E"/>
                </a:solidFill>
              </a:rPr>
              <a:t>snippet_id</a:t>
            </a:r>
            <a:r>
              <a:rPr sz="1400" b="0" dirty="0">
                <a:solidFill>
                  <a:srgbClr val="63637E"/>
                </a:solidFill>
              </a:rPr>
              <a:t> = hash(normalized code) means unchanged functions never get touched on reindex — only real diffs are re-embedded, so rebuild time stays close to the size of the change, not the size of the repo</a:t>
            </a:r>
          </a:p>
          <a:p>
            <a:pPr lvl="1">
              <a:lnSpc>
                <a:spcPct val="115000"/>
              </a:lnSpc>
              <a:spcAft>
                <a:spcPts val="2400"/>
              </a:spcAft>
            </a:pPr>
            <a:r>
              <a:rPr sz="1400" b="0" dirty="0">
                <a:solidFill>
                  <a:srgbClr val="63637E"/>
                </a:solidFill>
              </a:rPr>
              <a:t>Evolutionary retrieval: the same content-addressed IDs form lineage chains across versions, so near-duplicate edits of one function get grouped instead of crowding out genuinely distinct results</a:t>
            </a:r>
          </a:p>
          <a:p>
            <a:pPr>
              <a:lnSpc>
                <a:spcPct val="115000"/>
              </a:lnSpc>
              <a:spcAft>
                <a:spcPts val="2400"/>
              </a:spcAft>
            </a:pPr>
            <a:r>
              <a:rPr sz="1400" b="1" dirty="0">
                <a:solidFill>
                  <a:srgbClr val="6D28D9"/>
                </a:solidFill>
              </a:rPr>
              <a:t>One design decision — content addressing — drives accuracy, fast reindexing, and cross-version ranking together, instead of three separate bolted-on features. 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3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704EA6"/>
              </a:buClr>
              <a:buSzPts val="4400"/>
              <a:buFont typeface="Calibri"/>
              <a:buNone/>
            </a:pPr>
            <a:r>
              <a:rPr lang="en-US" b="1">
                <a:solidFill>
                  <a:srgbClr val="704EA6"/>
                </a:solidFill>
                <a:latin typeface="Calibri"/>
                <a:ea typeface="Calibri"/>
                <a:cs typeface="Calibri"/>
                <a:sym typeface="Calibri"/>
              </a:rPr>
              <a:t>Existing Solutions &amp; Gaps</a:t>
            </a:r>
            <a:endParaRPr/>
          </a:p>
        </p:txBody>
      </p:sp>
      <p:sp>
        <p:nvSpPr>
          <p:cNvPr id="108" name="Google Shape;108;p3"/>
          <p:cNvSpPr txBox="1">
            <a:spLocks noGrp="1"/>
          </p:cNvSpPr>
          <p:nvPr>
            <p:ph type="body" idx="1"/>
          </p:nvPr>
        </p:nvSpPr>
        <p:spPr>
          <a:xfrm>
            <a:off x="838200" y="1500000"/>
            <a:ext cx="10515600" cy="515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228600" indent="-50800" algn="l" rtl="0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  <a:buClr>
                <a:schemeClr val="dk1"/>
              </a:buClr>
              <a:buSzPts val="2800"/>
              <a:buNone/>
            </a:pPr>
            <a:r>
              <a:rPr sz="1800" b="1" dirty="0">
                <a:solidFill>
                  <a:srgbClr val="6D28D9"/>
                </a:solidFill>
              </a:rPr>
              <a:t>How code retrieval is commonly approached — and where it breaks down</a:t>
            </a:r>
            <a:endParaRPr sz="1800" dirty="0"/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600" b="1" dirty="0">
                <a:solidFill>
                  <a:srgbClr val="14142B"/>
                </a:solidFill>
              </a:rPr>
              <a:t>Single dense embedding model + cosine similarity</a:t>
            </a:r>
          </a:p>
          <a:p>
            <a:pPr lvl="1">
              <a:lnSpc>
                <a:spcPct val="115000"/>
              </a:lnSpc>
              <a:spcAft>
                <a:spcPts val="1000"/>
              </a:spcAft>
            </a:pPr>
            <a:r>
              <a:rPr sz="1400" b="0" dirty="0">
                <a:solidFill>
                  <a:srgbClr val="63637E"/>
                </a:solidFill>
              </a:rPr>
              <a:t>Fast to build, but misses exact identifier/keyword matches (vocabulary mismatch between natural language and code); no answer for structural questions like “which files call X before Y”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600" b="1" dirty="0">
                <a:solidFill>
                  <a:srgbClr val="14142B"/>
                </a:solidFill>
              </a:rPr>
              <a:t>LLM-in-the-loop ranking</a:t>
            </a:r>
          </a:p>
          <a:p>
            <a:pPr lvl="1">
              <a:lnSpc>
                <a:spcPct val="115000"/>
              </a:lnSpc>
              <a:spcAft>
                <a:spcPts val="1000"/>
              </a:spcAft>
            </a:pPr>
            <a:r>
              <a:rPr sz="1400" b="0" dirty="0">
                <a:solidFill>
                  <a:srgbClr val="63637E"/>
                </a:solidFill>
              </a:rPr>
              <a:t>Explicitly ruled out by the problem statement — thousands of snippets can't fit in any context window, and it's too slow for a retrieval-first step in a RAG pipeline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600" b="1" dirty="0">
                <a:solidFill>
                  <a:srgbClr val="14142B"/>
                </a:solidFill>
              </a:rPr>
              <a:t>Full re-embedding on every commit</a:t>
            </a:r>
          </a:p>
          <a:p>
            <a:pPr lvl="1">
              <a:lnSpc>
                <a:spcPct val="115000"/>
              </a:lnSpc>
              <a:spcAft>
                <a:spcPts val="1000"/>
              </a:spcAft>
            </a:pPr>
            <a:r>
              <a:rPr sz="1400" b="0" dirty="0">
                <a:solidFill>
                  <a:srgbClr val="63637E"/>
                </a:solidFill>
              </a:rPr>
              <a:t>Correct but doesn't scale — codebases change constantly, and the P1 goal explicitly requires indexes to rebuild in a “reasonable amount of time,” not from scratch every time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600" b="1" dirty="0">
                <a:solidFill>
                  <a:srgbClr val="14142B"/>
                </a:solidFill>
              </a:rPr>
              <a:t>Treating every code version independently</a:t>
            </a:r>
          </a:p>
          <a:p>
            <a:pPr lvl="1">
              <a:lnSpc>
                <a:spcPct val="115000"/>
              </a:lnSpc>
              <a:spcAft>
                <a:spcPts val="1000"/>
              </a:spcAft>
            </a:pPr>
            <a:r>
              <a:rPr sz="1400" b="0" dirty="0">
                <a:solidFill>
                  <a:srgbClr val="63637E"/>
                </a:solidFill>
              </a:rPr>
              <a:t>Near-identical snippets across versions crowd out genuinely distinct results — a hard ranking problem the Bonus goal calls out directly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4"/>
          <p:cNvSpPr txBox="1">
            <a:spLocks noGrp="1"/>
          </p:cNvSpPr>
          <p:nvPr>
            <p:ph type="title"/>
          </p:nvPr>
        </p:nvSpPr>
        <p:spPr>
          <a:xfrm>
            <a:off x="909917" y="266513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704EA6"/>
              </a:buClr>
              <a:buSzPts val="4400"/>
              <a:buFont typeface="Calibri"/>
              <a:buNone/>
            </a:pPr>
            <a:r>
              <a:rPr lang="en-US" b="1">
                <a:solidFill>
                  <a:srgbClr val="704EA6"/>
                </a:solidFill>
                <a:latin typeface="Calibri"/>
                <a:ea typeface="Calibri"/>
                <a:cs typeface="Calibri"/>
                <a:sym typeface="Calibri"/>
              </a:rPr>
              <a:t>Our Solutions &amp; Architecture Diagram</a:t>
            </a:r>
            <a:endParaRPr/>
          </a:p>
        </p:txBody>
      </p:sp>
      <p:sp>
        <p:nvSpPr>
          <p:cNvPr id="114" name="Google Shape;114;p4"/>
          <p:cNvSpPr txBox="1">
            <a:spLocks noGrp="1"/>
          </p:cNvSpPr>
          <p:nvPr>
            <p:ph type="body" idx="1"/>
          </p:nvPr>
        </p:nvSpPr>
        <p:spPr>
          <a:xfrm>
            <a:off x="838200" y="1450000"/>
            <a:ext cx="10515600" cy="115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228600" indent="-50800" algn="l" rtl="0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  <a:buClr>
                <a:schemeClr val="dk1"/>
              </a:buClr>
              <a:buSzPts val="2800"/>
              <a:buNone/>
            </a:pPr>
            <a:r>
              <a:rPr sz="1600" b="1" dirty="0">
                <a:solidFill>
                  <a:srgbClr val="14142B"/>
                </a:solidFill>
              </a:rPr>
              <a:t>Multi-stage hybrid retrieval pipeline: recall-focused candidate generation, then precision-focused reranking.</a:t>
            </a:r>
            <a:endParaRPr sz="1600" dirty="0"/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600" b="0" dirty="0">
                <a:solidFill>
                  <a:srgbClr val="63637E"/>
                </a:solidFill>
              </a:rPr>
              <a:t>Query is routed to a structural path (AST/call-graph) or a semantic path (dense + BM25 fused, then cross-encoder reranked) based on query type.</a:t>
            </a:r>
          </a:p>
        </p:txBody>
      </p:sp>
      <p:pic>
        <p:nvPicPr>
          <p:cNvPr id="115" name="Picture 114" descr="diagram_p0_pipelin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90076" y="2750000"/>
            <a:ext cx="9011847" cy="3900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5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704EA6"/>
              </a:buClr>
              <a:buSzPts val="4400"/>
              <a:buFont typeface="Calibri"/>
              <a:buNone/>
            </a:pPr>
            <a:r>
              <a:rPr lang="en-US" b="1" dirty="0">
                <a:solidFill>
                  <a:srgbClr val="704EA6"/>
                </a:solidFill>
                <a:latin typeface="Calibri"/>
                <a:ea typeface="Calibri"/>
                <a:cs typeface="Calibri"/>
                <a:sym typeface="Calibri"/>
              </a:rPr>
              <a:t>Demo &amp; Product Walkthrough</a:t>
            </a:r>
            <a:endParaRPr dirty="0"/>
          </a:p>
        </p:txBody>
      </p:sp>
      <p:sp>
        <p:nvSpPr>
          <p:cNvPr id="120" name="Google Shape;120;p5"/>
          <p:cNvSpPr txBox="1">
            <a:spLocks noGrp="1"/>
          </p:cNvSpPr>
          <p:nvPr>
            <p:ph type="body" idx="1"/>
          </p:nvPr>
        </p:nvSpPr>
        <p:spPr>
          <a:xfrm>
            <a:off x="838200" y="1703691"/>
            <a:ext cx="10515600" cy="47891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228600" indent="-50800" algn="l" rtl="0">
              <a:lnSpc>
                <a:spcPct val="115000"/>
              </a:lnSpc>
              <a:spcBef>
                <a:spcPts val="0"/>
              </a:spcBef>
              <a:spcAft>
                <a:spcPts val="1200"/>
              </a:spcAft>
              <a:buClr>
                <a:schemeClr val="dk1"/>
              </a:buClr>
              <a:buSzPts val="2800"/>
              <a:buNone/>
            </a:pPr>
            <a:r>
              <a:rPr sz="1800" b="1" dirty="0">
                <a:solidFill>
                  <a:srgbClr val="6D28D9"/>
                </a:solidFill>
              </a:rPr>
              <a:t>Live demo covers:</a:t>
            </a:r>
            <a:endParaRPr sz="1800" dirty="0"/>
          </a:p>
          <a:p>
            <a:pPr lvl="1">
              <a:lnSpc>
                <a:spcPct val="115000"/>
              </a:lnSpc>
              <a:spcAft>
                <a:spcPts val="1200"/>
              </a:spcAft>
            </a:pPr>
            <a:r>
              <a:rPr sz="1600" b="0" dirty="0">
                <a:solidFill>
                  <a:srgbClr val="63637E"/>
                </a:solidFill>
              </a:rPr>
              <a:t>A natural-language query run end-to-end — not just final numbers, the actual ranked snippet output</a:t>
            </a:r>
          </a:p>
          <a:p>
            <a:pPr lvl="1">
              <a:lnSpc>
                <a:spcPct val="115000"/>
              </a:lnSpc>
              <a:spcAft>
                <a:spcPts val="1200"/>
              </a:spcAft>
            </a:pPr>
            <a:r>
              <a:rPr sz="1600" b="0" dirty="0">
                <a:solidFill>
                  <a:srgbClr val="63637E"/>
                </a:solidFill>
              </a:rPr>
              <a:t>Side-by-side ablation: dense-only → +BM25 fusion → +reranking, showing how ranking quality improves at each stage on the same query</a:t>
            </a:r>
          </a:p>
          <a:p>
            <a:pPr lvl="1">
              <a:lnSpc>
                <a:spcPct val="115000"/>
              </a:lnSpc>
              <a:spcAft>
                <a:spcPts val="1200"/>
              </a:spcAft>
            </a:pPr>
            <a:r>
              <a:rPr sz="1600" b="0" dirty="0">
                <a:solidFill>
                  <a:srgbClr val="63637E"/>
                </a:solidFill>
              </a:rPr>
              <a:t>A tough query where naive dense search gets fooled (e.g. keyword/stop-word overlap) and the </a:t>
            </a:r>
            <a:r>
              <a:rPr sz="1600" b="0" dirty="0" err="1">
                <a:solidFill>
                  <a:srgbClr val="63637E"/>
                </a:solidFill>
              </a:rPr>
              <a:t>reranker</a:t>
            </a:r>
            <a:r>
              <a:rPr sz="1600" b="0" dirty="0">
                <a:solidFill>
                  <a:srgbClr val="63637E"/>
                </a:solidFill>
              </a:rPr>
              <a:t> corrects it</a:t>
            </a:r>
          </a:p>
          <a:p>
            <a:pPr lvl="1">
              <a:lnSpc>
                <a:spcPct val="115000"/>
              </a:lnSpc>
              <a:spcAft>
                <a:spcPts val="1200"/>
              </a:spcAft>
            </a:pPr>
            <a:r>
              <a:rPr sz="1600" b="0" dirty="0">
                <a:solidFill>
                  <a:srgbClr val="63637E"/>
                </a:solidFill>
              </a:rPr>
              <a:t>Response latency shown live, not just claimed in the slide</a:t>
            </a:r>
          </a:p>
          <a:p>
            <a:pPr lvl="1">
              <a:lnSpc>
                <a:spcPct val="115000"/>
              </a:lnSpc>
              <a:spcAft>
                <a:spcPts val="1200"/>
              </a:spcAft>
            </a:pPr>
            <a:r>
              <a:rPr sz="1600" b="0" dirty="0">
                <a:solidFill>
                  <a:srgbClr val="63637E"/>
                </a:solidFill>
              </a:rPr>
              <a:t>P1 in action: a small code change triggers incremental reindexing — only the changed snippet is touched, with a timed before/after comparison against a full rebuild</a:t>
            </a:r>
          </a:p>
          <a:p>
            <a:pPr lvl="1">
              <a:lnSpc>
                <a:spcPct val="115000"/>
              </a:lnSpc>
              <a:spcAft>
                <a:spcPts val="1200"/>
              </a:spcAft>
            </a:pPr>
            <a:r>
              <a:rPr sz="1600" b="0" dirty="0">
                <a:solidFill>
                  <a:srgbClr val="63637E"/>
                </a:solidFill>
              </a:rPr>
              <a:t>Bonus in action: a cross-version query returns lineage-grouped results instead of near-duplicate clutter</a:t>
            </a:r>
          </a:p>
          <a:p>
            <a:pPr>
              <a:lnSpc>
                <a:spcPct val="115000"/>
              </a:lnSpc>
              <a:spcAft>
                <a:spcPts val="1200"/>
              </a:spcAft>
            </a:pPr>
            <a:r>
              <a:rPr sz="1600" b="1" dirty="0">
                <a:solidFill>
                  <a:srgbClr val="14142B"/>
                </a:solidFill>
              </a:rPr>
              <a:t>Demo video: [add YouTube / Drive link here before submission]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704EA6"/>
              </a:buClr>
              <a:buSzPts val="4400"/>
              <a:buFont typeface="Calibri"/>
              <a:buNone/>
            </a:pPr>
            <a:r>
              <a:rPr lang="en-US" sz="4400" b="1" dirty="0">
                <a:solidFill>
                  <a:srgbClr val="704EA6"/>
                </a:solidFill>
                <a:latin typeface="Calibri"/>
                <a:ea typeface="Calibri"/>
                <a:cs typeface="Calibri"/>
                <a:sym typeface="Calibri"/>
              </a:rPr>
              <a:t>Tools and tech stack used</a:t>
            </a:r>
            <a:endParaRPr b="1" dirty="0">
              <a:solidFill>
                <a:srgbClr val="704EA6"/>
              </a:solidFill>
            </a:endParaRPr>
          </a:p>
        </p:txBody>
      </p:sp>
      <p:sp>
        <p:nvSpPr>
          <p:cNvPr id="126" name="Google Shape;126;p6"/>
          <p:cNvSpPr txBox="1">
            <a:spLocks noGrp="1"/>
          </p:cNvSpPr>
          <p:nvPr>
            <p:ph type="body" idx="1"/>
          </p:nvPr>
        </p:nvSpPr>
        <p:spPr>
          <a:xfrm>
            <a:off x="838200" y="1350000"/>
            <a:ext cx="5100000" cy="54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228600" indent="0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SzPts val="2800"/>
              <a:buNone/>
            </a:pPr>
            <a:r>
              <a:rPr sz="1600" b="1" dirty="0">
                <a:solidFill>
                  <a:srgbClr val="14142B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▸ Embedding model</a:t>
            </a:r>
            <a:endParaRPr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indent="0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None/>
            </a:pPr>
            <a:r>
              <a:rPr sz="1400" b="0" dirty="0">
                <a:solidFill>
                  <a:srgbClr val="63637E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jina-embeddings-v2-base-code (</a:t>
            </a:r>
            <a:r>
              <a:rPr sz="1400" b="0" dirty="0" err="1">
                <a:solidFill>
                  <a:srgbClr val="63637E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bge</a:t>
            </a:r>
            <a:r>
              <a:rPr sz="1400" b="0" dirty="0">
                <a:solidFill>
                  <a:srgbClr val="63637E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-small-</a:t>
            </a:r>
            <a:r>
              <a:rPr sz="1400" b="0" dirty="0" err="1">
                <a:solidFill>
                  <a:srgbClr val="63637E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en</a:t>
            </a:r>
            <a:r>
              <a:rPr sz="1400" b="0" dirty="0">
                <a:solidFill>
                  <a:srgbClr val="63637E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fallback) — cod</a:t>
            </a:r>
            <a:r>
              <a:rPr lang="en-IN" sz="1400" b="0" dirty="0">
                <a:solidFill>
                  <a:srgbClr val="63637E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</a:t>
            </a:r>
            <a:endParaRPr lang="en-US" sz="1400" b="0" dirty="0">
              <a:solidFill>
                <a:srgbClr val="63637E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indent="0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None/>
            </a:pPr>
            <a:r>
              <a:rPr lang="en-US" sz="1400" b="0" dirty="0">
                <a:solidFill>
                  <a:srgbClr val="63637E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aware embeddings outperform general text embeddings on code</a:t>
            </a:r>
          </a:p>
          <a:p>
            <a:pPr indent="0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None/>
            </a:pPr>
            <a:r>
              <a:rPr lang="en-US" sz="1400" b="0" dirty="0">
                <a:solidFill>
                  <a:srgbClr val="63637E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retrieval</a:t>
            </a:r>
          </a:p>
          <a:p>
            <a:pPr indent="0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None/>
            </a:pPr>
            <a:r>
              <a:rPr lang="en-IN" sz="1600" b="1" dirty="0">
                <a:solidFill>
                  <a:srgbClr val="14142B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▸</a:t>
            </a:r>
            <a:r>
              <a:rPr lang="en-US" sz="1600" b="1" dirty="0">
                <a:solidFill>
                  <a:srgbClr val="14142B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Sparse retrieval</a:t>
            </a:r>
          </a:p>
          <a:p>
            <a:pPr indent="0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None/>
            </a:pPr>
            <a:r>
              <a:rPr sz="1400" b="0" dirty="0">
                <a:solidFill>
                  <a:srgbClr val="63637E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BM25, code-aware tokenization — catches exact</a:t>
            </a:r>
            <a:endParaRPr lang="en-US" sz="1400" b="0" dirty="0">
              <a:solidFill>
                <a:srgbClr val="63637E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indent="0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None/>
            </a:pPr>
            <a:r>
              <a:rPr sz="1400" b="0" dirty="0">
                <a:solidFill>
                  <a:srgbClr val="63637E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identifier/keyword matches dense embeddings miss</a:t>
            </a:r>
          </a:p>
          <a:p>
            <a:pPr indent="0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None/>
            </a:pPr>
            <a:r>
              <a:rPr sz="1600" b="1" dirty="0">
                <a:solidFill>
                  <a:srgbClr val="14142B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▸ Fusion</a:t>
            </a:r>
          </a:p>
          <a:p>
            <a:pPr indent="0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None/>
            </a:pPr>
            <a:r>
              <a:rPr sz="1400" b="0" dirty="0">
                <a:solidFill>
                  <a:srgbClr val="63637E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Reciprocal Rank Fusion, hand-rolled — combines dense + sparse</a:t>
            </a:r>
            <a:endParaRPr lang="en-US" sz="1400" b="0" dirty="0">
              <a:solidFill>
                <a:srgbClr val="63637E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indent="0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None/>
            </a:pPr>
            <a:r>
              <a:rPr sz="1400" b="0" dirty="0">
                <a:solidFill>
                  <a:srgbClr val="63637E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ranked lists without extra dependencies</a:t>
            </a:r>
          </a:p>
          <a:p>
            <a:pPr indent="0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None/>
            </a:pPr>
            <a:r>
              <a:rPr sz="1600" b="1" dirty="0">
                <a:solidFill>
                  <a:srgbClr val="14142B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▸ </a:t>
            </a:r>
            <a:r>
              <a:rPr sz="1600" b="1" dirty="0" err="1">
                <a:solidFill>
                  <a:srgbClr val="14142B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Reranker</a:t>
            </a:r>
            <a:endParaRPr sz="1600" b="1" dirty="0">
              <a:solidFill>
                <a:srgbClr val="14142B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indent="0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None/>
            </a:pPr>
            <a:r>
              <a:rPr sz="1400" b="0" dirty="0" err="1">
                <a:solidFill>
                  <a:srgbClr val="63637E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bge</a:t>
            </a:r>
            <a:r>
              <a:rPr sz="1400" b="0" dirty="0">
                <a:solidFill>
                  <a:srgbClr val="63637E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-</a:t>
            </a:r>
            <a:r>
              <a:rPr sz="1400" b="0" dirty="0" err="1">
                <a:solidFill>
                  <a:srgbClr val="63637E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reranker</a:t>
            </a:r>
            <a:r>
              <a:rPr sz="1400" b="0" dirty="0">
                <a:solidFill>
                  <a:srgbClr val="63637E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-base cross-encoder — largest single lever on</a:t>
            </a:r>
            <a:endParaRPr lang="en-US" sz="1400" b="0" dirty="0">
              <a:solidFill>
                <a:srgbClr val="63637E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indent="0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None/>
            </a:pPr>
            <a:r>
              <a:rPr sz="1400" b="0" dirty="0">
                <a:solidFill>
                  <a:srgbClr val="63637E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NDCG@10; CPU-fast over a small candidate set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6250000" y="1350000"/>
            <a:ext cx="5100000" cy="54000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ct val="115000"/>
              </a:lnSpc>
              <a:spcAft>
                <a:spcPts val="800"/>
              </a:spcAft>
            </a:pPr>
            <a:r>
              <a:rPr sz="1600" b="1" dirty="0">
                <a:solidFill>
                  <a:srgbClr val="14142B"/>
                </a:solidFill>
              </a:rPr>
              <a:t>▸ Vector store</a:t>
            </a:r>
          </a:p>
          <a:p>
            <a:pPr>
              <a:lnSpc>
                <a:spcPct val="115000"/>
              </a:lnSpc>
              <a:spcAft>
                <a:spcPts val="800"/>
              </a:spcAft>
            </a:pPr>
            <a:r>
              <a:rPr sz="1400" b="0" dirty="0">
                <a:solidFill>
                  <a:srgbClr val="63637E"/>
                </a:solidFill>
              </a:rPr>
              <a:t>FAISS, </a:t>
            </a:r>
            <a:r>
              <a:rPr sz="1400" b="0" dirty="0" err="1">
                <a:solidFill>
                  <a:srgbClr val="63637E"/>
                </a:solidFill>
              </a:rPr>
              <a:t>IndexIDMap</a:t>
            </a:r>
            <a:r>
              <a:rPr sz="1400" b="0" dirty="0">
                <a:solidFill>
                  <a:srgbClr val="63637E"/>
                </a:solidFill>
              </a:rPr>
              <a:t> — local, no server dependency; supports incremental add/remove for P1 versioning</a:t>
            </a:r>
          </a:p>
          <a:p>
            <a:pPr>
              <a:lnSpc>
                <a:spcPct val="115000"/>
              </a:lnSpc>
              <a:spcAft>
                <a:spcPts val="800"/>
              </a:spcAft>
            </a:pPr>
            <a:r>
              <a:rPr sz="1600" b="1" dirty="0">
                <a:solidFill>
                  <a:srgbClr val="14142B"/>
                </a:solidFill>
              </a:rPr>
              <a:t>▸ Code parsing</a:t>
            </a:r>
          </a:p>
          <a:p>
            <a:pPr>
              <a:lnSpc>
                <a:spcPct val="115000"/>
              </a:lnSpc>
              <a:spcAft>
                <a:spcPts val="800"/>
              </a:spcAft>
            </a:pPr>
            <a:r>
              <a:rPr sz="1400" b="0" dirty="0">
                <a:solidFill>
                  <a:srgbClr val="63637E"/>
                </a:solidFill>
              </a:rPr>
              <a:t>tree-sitter — function/block-level snippet extraction + call-graph construction for structural queries</a:t>
            </a:r>
          </a:p>
          <a:p>
            <a:pPr>
              <a:lnSpc>
                <a:spcPct val="115000"/>
              </a:lnSpc>
              <a:spcAft>
                <a:spcPts val="800"/>
              </a:spcAft>
            </a:pPr>
            <a:r>
              <a:rPr sz="1600" b="1" dirty="0">
                <a:solidFill>
                  <a:srgbClr val="14142B"/>
                </a:solidFill>
              </a:rPr>
              <a:t>▸ Metadata store</a:t>
            </a:r>
          </a:p>
          <a:p>
            <a:pPr>
              <a:lnSpc>
                <a:spcPct val="115000"/>
              </a:lnSpc>
              <a:spcAft>
                <a:spcPts val="800"/>
              </a:spcAft>
            </a:pPr>
            <a:r>
              <a:rPr sz="1400" b="0" dirty="0">
                <a:solidFill>
                  <a:srgbClr val="63637E"/>
                </a:solidFill>
              </a:rPr>
              <a:t>SQLite — lightweight snippet/version bookkeeping, no server needed</a:t>
            </a:r>
          </a:p>
          <a:p>
            <a:pPr>
              <a:lnSpc>
                <a:spcPct val="115000"/>
              </a:lnSpc>
              <a:spcAft>
                <a:spcPts val="800"/>
              </a:spcAft>
            </a:pPr>
            <a:r>
              <a:rPr sz="1600" b="1" dirty="0">
                <a:solidFill>
                  <a:srgbClr val="14142B"/>
                </a:solidFill>
              </a:rPr>
              <a:t>▸ Evaluation</a:t>
            </a:r>
          </a:p>
          <a:p>
            <a:pPr>
              <a:lnSpc>
                <a:spcPct val="115000"/>
              </a:lnSpc>
              <a:spcAft>
                <a:spcPts val="800"/>
              </a:spcAft>
            </a:pPr>
            <a:r>
              <a:rPr sz="1400" b="0" dirty="0">
                <a:solidFill>
                  <a:srgbClr val="63637E"/>
                </a:solidFill>
              </a:rPr>
              <a:t>MTEB library, </a:t>
            </a:r>
            <a:r>
              <a:rPr sz="1400" b="0" dirty="0" err="1">
                <a:solidFill>
                  <a:srgbClr val="63637E"/>
                </a:solidFill>
              </a:rPr>
              <a:t>AppsRetrieval</a:t>
            </a:r>
            <a:r>
              <a:rPr sz="1400" b="0" dirty="0">
                <a:solidFill>
                  <a:srgbClr val="63637E"/>
                </a:solidFill>
              </a:rPr>
              <a:t> task — required submission format; used for self-evaluation and the official JSON output</a:t>
            </a:r>
          </a:p>
          <a:p>
            <a:pPr>
              <a:lnSpc>
                <a:spcPct val="115000"/>
              </a:lnSpc>
              <a:spcAft>
                <a:spcPts val="800"/>
              </a:spcAft>
            </a:pPr>
            <a:r>
              <a:rPr sz="1600" b="1" dirty="0">
                <a:solidFill>
                  <a:srgbClr val="14142B"/>
                </a:solidFill>
              </a:rPr>
              <a:t>▸ Orchestration</a:t>
            </a:r>
          </a:p>
          <a:p>
            <a:pPr>
              <a:lnSpc>
                <a:spcPct val="115000"/>
              </a:lnSpc>
              <a:spcAft>
                <a:spcPts val="800"/>
              </a:spcAft>
            </a:pPr>
            <a:r>
              <a:rPr sz="1400" b="0" dirty="0">
                <a:solidFill>
                  <a:srgbClr val="63637E"/>
                </a:solidFill>
              </a:rPr>
              <a:t>Plain Python, no heavy framework — kept </a:t>
            </a:r>
            <a:r>
              <a:rPr sz="1400" b="0" dirty="0" err="1">
                <a:solidFill>
                  <a:srgbClr val="63637E"/>
                </a:solidFill>
              </a:rPr>
              <a:t>debuggable</a:t>
            </a:r>
            <a:r>
              <a:rPr sz="1400" b="0" dirty="0">
                <a:solidFill>
                  <a:srgbClr val="63637E"/>
                </a:solidFill>
              </a:rPr>
              <a:t> and fast; framework overhead added no grading value here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7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704EA6"/>
              </a:buClr>
              <a:buSzPts val="4400"/>
              <a:buFont typeface="Calibri"/>
              <a:buNone/>
            </a:pPr>
            <a:r>
              <a:rPr lang="en-US" sz="4400" b="1">
                <a:solidFill>
                  <a:srgbClr val="704EA6"/>
                </a:solidFill>
                <a:latin typeface="Calibri"/>
                <a:ea typeface="Calibri"/>
                <a:cs typeface="Calibri"/>
                <a:sym typeface="Calibri"/>
              </a:rPr>
              <a:t>Impact &amp; Use case</a:t>
            </a:r>
            <a:endParaRPr b="1">
              <a:solidFill>
                <a:srgbClr val="704EA6"/>
              </a:solidFill>
            </a:endParaRPr>
          </a:p>
        </p:txBody>
      </p:sp>
      <p:sp>
        <p:nvSpPr>
          <p:cNvPr id="132" name="Google Shape;132;p7"/>
          <p:cNvSpPr txBox="1">
            <a:spLocks noGrp="1"/>
          </p:cNvSpPr>
          <p:nvPr>
            <p:ph type="body" idx="1"/>
          </p:nvPr>
        </p:nvSpPr>
        <p:spPr>
          <a:xfrm>
            <a:off x="838200" y="1500000"/>
            <a:ext cx="10515600" cy="515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463550" indent="-285750">
              <a:lnSpc>
                <a:spcPct val="115000"/>
              </a:lnSpc>
              <a:spcBef>
                <a:spcPts val="0"/>
              </a:spcBef>
              <a:spcAft>
                <a:spcPts val="1200"/>
              </a:spcAft>
              <a:buSzPct val="140000"/>
            </a:pPr>
            <a:r>
              <a:rPr sz="1800" b="1" dirty="0">
                <a:solidFill>
                  <a:srgbClr val="6D28D9"/>
                </a:solidFill>
              </a:rPr>
              <a:t>Who this helps</a:t>
            </a:r>
            <a:endParaRPr sz="1800" dirty="0"/>
          </a:p>
          <a:p>
            <a:pPr lvl="1">
              <a:lnSpc>
                <a:spcPct val="115000"/>
              </a:lnSpc>
              <a:spcAft>
                <a:spcPts val="1200"/>
              </a:spcAft>
            </a:pPr>
            <a:r>
              <a:rPr sz="1600" b="0" dirty="0">
                <a:solidFill>
                  <a:srgbClr val="63637E"/>
                </a:solidFill>
              </a:rPr>
              <a:t>Any AI coding agent or developer tool that needs to find the right code in a codebase too large to fit in an LLM's context window — the exact scenario in the problem statement (voice-assistant codebases with dozens of agents spread across thousands of files)</a:t>
            </a:r>
          </a:p>
          <a:p>
            <a:pPr>
              <a:lnSpc>
                <a:spcPct val="115000"/>
              </a:lnSpc>
              <a:spcAft>
                <a:spcPts val="1200"/>
              </a:spcAft>
            </a:pPr>
            <a:r>
              <a:rPr sz="1800" b="1" dirty="0">
                <a:solidFill>
                  <a:srgbClr val="6D28D9"/>
                </a:solidFill>
              </a:rPr>
              <a:t>Why it matters beyond the hackathon</a:t>
            </a:r>
          </a:p>
          <a:p>
            <a:pPr lvl="1">
              <a:lnSpc>
                <a:spcPct val="115000"/>
              </a:lnSpc>
              <a:spcAft>
                <a:spcPts val="1200"/>
              </a:spcAft>
            </a:pPr>
            <a:r>
              <a:rPr sz="1600" b="0" dirty="0">
                <a:solidFill>
                  <a:srgbClr val="63637E"/>
                </a:solidFill>
              </a:rPr>
              <a:t>Retrieval is the bottleneck step in any RAG-for-code pipeline — faster, more accurate retrieval speeds up bug localization, code review, and onboarding to unfamiliar codebases</a:t>
            </a:r>
          </a:p>
          <a:p>
            <a:pPr lvl="1">
              <a:lnSpc>
                <a:spcPct val="115000"/>
              </a:lnSpc>
              <a:spcAft>
                <a:spcPts val="1200"/>
              </a:spcAft>
            </a:pPr>
            <a:r>
              <a:rPr sz="1600" b="0" dirty="0">
                <a:solidFill>
                  <a:srgbClr val="63637E"/>
                </a:solidFill>
              </a:rPr>
              <a:t>Codebases change constantly; a system that can't keep pace with commits without full rebuilds doesn't survive production — why we treated P1 as a first-class requirement, not an afterthought</a:t>
            </a:r>
          </a:p>
          <a:p>
            <a:pPr>
              <a:lnSpc>
                <a:spcPct val="115000"/>
              </a:lnSpc>
              <a:spcAft>
                <a:spcPts val="1200"/>
              </a:spcAft>
            </a:pPr>
            <a:r>
              <a:rPr sz="1800" b="1" dirty="0">
                <a:solidFill>
                  <a:srgbClr val="6D28D9"/>
                </a:solidFill>
              </a:rPr>
              <a:t>Concrete use case</a:t>
            </a:r>
          </a:p>
          <a:p>
            <a:pPr lvl="1">
              <a:lnSpc>
                <a:spcPct val="115000"/>
              </a:lnSpc>
              <a:spcAft>
                <a:spcPts val="1200"/>
              </a:spcAft>
            </a:pPr>
            <a:r>
              <a:rPr sz="1600" b="0" dirty="0">
                <a:solidFill>
                  <a:srgbClr val="63637E"/>
                </a:solidFill>
              </a:rPr>
              <a:t>A developer asks “where is Bluetooth pairing handled?” or “which files call the auth token refresh before the API call?” and gets precise, ranked, file-and-line-level answers — instead of manually grepping thousands of files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8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704EA6"/>
              </a:buClr>
              <a:buSzPts val="4400"/>
              <a:buFont typeface="Calibri"/>
              <a:buNone/>
            </a:pPr>
            <a:r>
              <a:rPr lang="en-US" sz="3200" b="1" dirty="0">
                <a:solidFill>
                  <a:srgbClr val="704EA6"/>
                </a:solidFill>
                <a:latin typeface="Calibri"/>
                <a:ea typeface="Calibri"/>
                <a:cs typeface="Calibri"/>
                <a:sym typeface="Calibri"/>
              </a:rPr>
              <a:t>Innovation highlights, results and limitations</a:t>
            </a:r>
            <a:endParaRPr sz="4400" b="1" dirty="0">
              <a:solidFill>
                <a:srgbClr val="704EA6"/>
              </a:solidFill>
            </a:endParaRPr>
          </a:p>
        </p:txBody>
      </p:sp>
      <p:sp>
        <p:nvSpPr>
          <p:cNvPr id="138" name="Google Shape;138;p8"/>
          <p:cNvSpPr txBox="1">
            <a:spLocks noGrp="1"/>
          </p:cNvSpPr>
          <p:nvPr>
            <p:ph type="body" idx="1"/>
          </p:nvPr>
        </p:nvSpPr>
        <p:spPr>
          <a:xfrm>
            <a:off x="838200" y="1300000"/>
            <a:ext cx="10515600" cy="225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463550" indent="-285750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  <a:buSzPct val="140000"/>
            </a:pPr>
            <a:r>
              <a:rPr lang="en-IN" sz="1400" b="1" dirty="0">
                <a:solidFill>
                  <a:schemeClr val="tx1"/>
                </a:solidFill>
                <a:latin typeface="+mj-lt"/>
              </a:rPr>
              <a:t>Innovation: content-addressed, diff-driven indexing</a:t>
            </a:r>
            <a:r>
              <a:rPr lang="en-IN" sz="1400" dirty="0">
                <a:solidFill>
                  <a:schemeClr val="tx1"/>
                </a:solidFill>
                <a:latin typeface="+mj-lt"/>
              </a:rPr>
              <a:t>  </a:t>
            </a:r>
          </a:p>
          <a:p>
            <a:pPr marL="635000" lvl="1" indent="0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  <a:buSzPct val="140000"/>
              <a:buNone/>
            </a:pPr>
            <a:r>
              <a:rPr sz="1400" b="0" dirty="0" err="1">
                <a:solidFill>
                  <a:schemeClr val="tx1"/>
                </a:solidFill>
                <a:latin typeface="+mj-lt"/>
              </a:rPr>
              <a:t>snippet_id</a:t>
            </a:r>
            <a:r>
              <a:rPr sz="1400" b="0" dirty="0">
                <a:solidFill>
                  <a:schemeClr val="tx1"/>
                </a:solidFill>
                <a:latin typeface="+mj-lt"/>
              </a:rPr>
              <a:t> = hash(normalized code) — unchanged functions keep their ID across versions, so only real diffs are re-embedded. Satisfies P1's “reasonable rebuild time” bar and enables the Bonus goal via lineage-grouped ranking.</a:t>
            </a:r>
          </a:p>
          <a:p>
            <a:pPr>
              <a:lnSpc>
                <a:spcPct val="115000"/>
              </a:lnSpc>
              <a:spcAft>
                <a:spcPts val="600"/>
              </a:spcAft>
              <a:buSzPct val="140000"/>
            </a:pPr>
            <a:r>
              <a:rPr sz="1400" b="1" dirty="0">
                <a:solidFill>
                  <a:schemeClr val="tx1"/>
                </a:solidFill>
                <a:latin typeface="+mj-lt"/>
              </a:rPr>
              <a:t>Results</a:t>
            </a:r>
            <a:r>
              <a:rPr sz="1400" b="0" dirty="0">
                <a:solidFill>
                  <a:schemeClr val="tx1"/>
                </a:solidFill>
                <a:latin typeface="+mj-lt"/>
              </a:rPr>
              <a:t>: ablation-driven, not guessed — dense-only → +BM25 fusion → +reranking, each stage measured against the same NDCG@10/MRR baseline on </a:t>
            </a:r>
            <a:r>
              <a:rPr sz="1400" b="0" dirty="0" err="1">
                <a:solidFill>
                  <a:schemeClr val="tx1"/>
                </a:solidFill>
                <a:latin typeface="+mj-lt"/>
              </a:rPr>
              <a:t>CoIR</a:t>
            </a:r>
            <a:r>
              <a:rPr sz="1400" b="0" dirty="0">
                <a:solidFill>
                  <a:schemeClr val="tx1"/>
                </a:solidFill>
                <a:latin typeface="+mj-lt"/>
              </a:rPr>
              <a:t> apps.</a:t>
            </a:r>
          </a:p>
          <a:p>
            <a:pPr>
              <a:lnSpc>
                <a:spcPct val="115000"/>
              </a:lnSpc>
              <a:spcAft>
                <a:spcPts val="600"/>
              </a:spcAft>
              <a:buSzPct val="140000"/>
            </a:pPr>
            <a:r>
              <a:rPr sz="1400" b="1" dirty="0">
                <a:solidFill>
                  <a:schemeClr val="tx1"/>
                </a:solidFill>
                <a:latin typeface="+mj-lt"/>
              </a:rPr>
              <a:t>Limitations</a:t>
            </a:r>
            <a:r>
              <a:rPr sz="1400" b="0" dirty="0">
                <a:solidFill>
                  <a:schemeClr val="tx1"/>
                </a:solidFill>
                <a:latin typeface="+mj-lt"/>
              </a:rPr>
              <a:t>: </a:t>
            </a:r>
            <a:r>
              <a:rPr sz="1400" b="0" dirty="0" err="1">
                <a:solidFill>
                  <a:schemeClr val="tx1"/>
                </a:solidFill>
                <a:latin typeface="+mj-lt"/>
              </a:rPr>
              <a:t>reranker</a:t>
            </a:r>
            <a:r>
              <a:rPr sz="1400" b="0" dirty="0">
                <a:solidFill>
                  <a:schemeClr val="tx1"/>
                </a:solidFill>
                <a:latin typeface="+mj-lt"/>
              </a:rPr>
              <a:t> cost scales with candidate count; BM25 tokenization is a known tuning point; structural coverage is scoped to the sample codebase.</a:t>
            </a:r>
          </a:p>
        </p:txBody>
      </p:sp>
      <p:pic>
        <p:nvPicPr>
          <p:cNvPr id="139" name="Picture 138" descr="diagram_p1_versionin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86603" y="3750000"/>
            <a:ext cx="7818794" cy="2950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9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704EA6"/>
              </a:buClr>
              <a:buSzPts val="4400"/>
              <a:buFont typeface="Calibri"/>
              <a:buNone/>
            </a:pPr>
            <a:r>
              <a:rPr lang="en-US" sz="4400" b="1">
                <a:solidFill>
                  <a:srgbClr val="704EA6"/>
                </a:solidFill>
                <a:latin typeface="Calibri"/>
                <a:ea typeface="Calibri"/>
                <a:cs typeface="Calibri"/>
                <a:sym typeface="Calibri"/>
              </a:rPr>
              <a:t>What’s next</a:t>
            </a:r>
            <a:endParaRPr sz="4400" b="1">
              <a:solidFill>
                <a:srgbClr val="704EA6"/>
              </a:solidFill>
            </a:endParaRPr>
          </a:p>
        </p:txBody>
      </p:sp>
      <p:sp>
        <p:nvSpPr>
          <p:cNvPr id="144" name="Google Shape;144;p9"/>
          <p:cNvSpPr txBox="1">
            <a:spLocks noGrp="1"/>
          </p:cNvSpPr>
          <p:nvPr>
            <p:ph type="body" idx="1"/>
          </p:nvPr>
        </p:nvSpPr>
        <p:spPr>
          <a:xfrm>
            <a:off x="838200" y="1611615"/>
            <a:ext cx="10515600" cy="476972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463550" indent="-285750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  <a:buSzPct val="100000"/>
            </a:pPr>
            <a:r>
              <a:rPr sz="1700" b="1" dirty="0">
                <a:solidFill>
                  <a:srgbClr val="14142B"/>
                </a:solidFill>
              </a:rPr>
              <a:t>Extend structural query coverage</a:t>
            </a:r>
            <a:endParaRPr dirty="0"/>
          </a:p>
          <a:p>
            <a:pPr lvl="1">
              <a:lnSpc>
                <a:spcPct val="115000"/>
              </a:lnSpc>
              <a:spcAft>
                <a:spcPts val="1000"/>
              </a:spcAft>
            </a:pPr>
            <a:r>
              <a:rPr sz="1400" b="0" dirty="0">
                <a:solidFill>
                  <a:srgbClr val="63637E"/>
                </a:solidFill>
              </a:rPr>
              <a:t>Broader call-graph pattern support beyond the current query set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700" b="1" dirty="0">
                <a:solidFill>
                  <a:srgbClr val="14142B"/>
                </a:solidFill>
              </a:rPr>
              <a:t>Move BM25 to an incrementally-updatable engine</a:t>
            </a:r>
          </a:p>
          <a:p>
            <a:pPr lvl="1">
              <a:lnSpc>
                <a:spcPct val="115000"/>
              </a:lnSpc>
              <a:spcAft>
                <a:spcPts val="1000"/>
              </a:spcAft>
            </a:pPr>
            <a:r>
              <a:rPr sz="1400" b="0" dirty="0">
                <a:solidFill>
                  <a:srgbClr val="63637E"/>
                </a:solidFill>
              </a:rPr>
              <a:t>e.g. Tantivy/Whoosh, if rebuild time becomes measurable at larger corpus scale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700" b="1" dirty="0">
                <a:solidFill>
                  <a:srgbClr val="14142B"/>
                </a:solidFill>
              </a:rPr>
              <a:t>Multi-language support</a:t>
            </a:r>
          </a:p>
          <a:p>
            <a:pPr lvl="1">
              <a:lnSpc>
                <a:spcPct val="115000"/>
              </a:lnSpc>
              <a:spcAft>
                <a:spcPts val="1000"/>
              </a:spcAft>
            </a:pPr>
            <a:r>
              <a:rPr sz="1400" b="0" dirty="0">
                <a:solidFill>
                  <a:srgbClr val="63637E"/>
                </a:solidFill>
              </a:rPr>
              <a:t>Current tree-sitter/parsing layer is JS-first; extending to Python/Java is a grammar swap, not an architecture change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700" b="1" dirty="0">
                <a:solidFill>
                  <a:srgbClr val="14142B"/>
                </a:solidFill>
              </a:rPr>
              <a:t>Query expansion via lightweight LLM paraphrasing</a:t>
            </a:r>
          </a:p>
          <a:p>
            <a:pPr lvl="1">
              <a:lnSpc>
                <a:spcPct val="115000"/>
              </a:lnSpc>
              <a:spcAft>
                <a:spcPts val="1000"/>
              </a:spcAft>
            </a:pPr>
            <a:r>
              <a:rPr sz="1400" b="0" dirty="0">
                <a:solidFill>
                  <a:srgbClr val="63637E"/>
                </a:solidFill>
              </a:rPr>
              <a:t>Improves recall on ambiguous natural-language queries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700" b="1" dirty="0">
                <a:solidFill>
                  <a:srgbClr val="14142B"/>
                </a:solidFill>
              </a:rPr>
              <a:t>Package the pipeline as a reusable retrieval service/API</a:t>
            </a:r>
          </a:p>
          <a:p>
            <a:pPr lvl="1">
              <a:lnSpc>
                <a:spcPct val="115000"/>
              </a:lnSpc>
              <a:spcAft>
                <a:spcPts val="1000"/>
              </a:spcAft>
            </a:pPr>
            <a:r>
              <a:rPr sz="1400" b="0" dirty="0">
                <a:solidFill>
                  <a:srgbClr val="63637E"/>
                </a:solidFill>
              </a:rPr>
              <a:t>So it can sit behind any coding agent, not just this evaluation harness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Google Shape;149;p10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704EA6"/>
              </a:buClr>
              <a:buSzPts val="4400"/>
              <a:buFont typeface="Calibri"/>
              <a:buNone/>
            </a:pPr>
            <a:r>
              <a:rPr lang="en-US" sz="3400" b="1">
                <a:solidFill>
                  <a:srgbClr val="704EA6"/>
                </a:solidFill>
                <a:latin typeface="Calibri"/>
                <a:ea typeface="Calibri"/>
                <a:cs typeface="Calibri"/>
                <a:sym typeface="Calibri"/>
              </a:rPr>
              <a:t>Brownie points slide( differentiation)</a:t>
            </a:r>
            <a:endParaRPr sz="4400" b="1">
              <a:solidFill>
                <a:srgbClr val="704EA6"/>
              </a:solidFill>
            </a:endParaRPr>
          </a:p>
        </p:txBody>
      </p:sp>
      <p:sp>
        <p:nvSpPr>
          <p:cNvPr id="150" name="Google Shape;150;p10"/>
          <p:cNvSpPr txBox="1">
            <a:spLocks noGrp="1"/>
          </p:cNvSpPr>
          <p:nvPr>
            <p:ph type="body" idx="1"/>
          </p:nvPr>
        </p:nvSpPr>
        <p:spPr>
          <a:xfrm>
            <a:off x="838200" y="1550000"/>
            <a:ext cx="10515600" cy="51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228600" indent="-50800" algn="l" rtl="0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  <a:buClr>
                <a:schemeClr val="dk1"/>
              </a:buClr>
              <a:buSzPts val="2800"/>
              <a:buNone/>
            </a:pPr>
            <a:r>
              <a:rPr sz="1700" b="1" dirty="0">
                <a:solidFill>
                  <a:srgbClr val="6D28D9"/>
                </a:solidFill>
                <a:latin typeface="+mj-lt"/>
              </a:rPr>
              <a:t>One idea, three goals solved</a:t>
            </a:r>
            <a:endParaRPr dirty="0">
              <a:latin typeface="+mj-lt"/>
            </a:endParaRP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400" b="0" dirty="0">
                <a:solidFill>
                  <a:srgbClr val="14142B"/>
                </a:solidFill>
                <a:latin typeface="+mj-lt"/>
              </a:rPr>
              <a:t>Content-addressed snippet identity — </a:t>
            </a:r>
            <a:r>
              <a:rPr sz="1400" b="0" dirty="0" err="1">
                <a:solidFill>
                  <a:srgbClr val="14142B"/>
                </a:solidFill>
                <a:latin typeface="+mj-lt"/>
              </a:rPr>
              <a:t>snippet_id</a:t>
            </a:r>
            <a:r>
              <a:rPr sz="1400" b="0" dirty="0">
                <a:solidFill>
                  <a:srgbClr val="14142B"/>
                </a:solidFill>
                <a:latin typeface="+mj-lt"/>
              </a:rPr>
              <a:t> = hash(normalized code) — is the single mechanism behind both P1 and Bonus, not two bolted-on features:</a:t>
            </a:r>
          </a:p>
          <a:p>
            <a:pPr lvl="1">
              <a:lnSpc>
                <a:spcPct val="115000"/>
              </a:lnSpc>
              <a:spcAft>
                <a:spcPts val="1000"/>
              </a:spcAft>
            </a:pPr>
            <a:r>
              <a:rPr sz="1300" b="0" dirty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</a:rPr>
              <a:t>Unchanged functions keep their ID across versions → P1's fast reindexing falls out for free</a:t>
            </a:r>
          </a:p>
          <a:p>
            <a:pPr lvl="1">
              <a:lnSpc>
                <a:spcPct val="115000"/>
              </a:lnSpc>
              <a:spcAft>
                <a:spcPts val="1000"/>
              </a:spcAft>
            </a:pPr>
            <a:r>
              <a:rPr sz="1300" b="0" dirty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</a:rPr>
              <a:t>Edits to the same function form a lineage chain → Bonus's cross-version ranking groups by lineage instead of post-hoc deduplication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700" b="1" dirty="0">
                <a:solidFill>
                  <a:srgbClr val="6D28D9"/>
                </a:solidFill>
                <a:latin typeface="+mj-lt"/>
              </a:rPr>
              <a:t>Every architectural choice is a measured number, not intuition</a:t>
            </a:r>
          </a:p>
          <a:p>
            <a:pPr lvl="1">
              <a:lnSpc>
                <a:spcPct val="115000"/>
              </a:lnSpc>
              <a:spcAft>
                <a:spcPts val="1000"/>
              </a:spcAft>
            </a:pPr>
            <a:r>
              <a:rPr sz="1400" b="0" dirty="0">
                <a:solidFill>
                  <a:srgbClr val="63637E"/>
                </a:solidFill>
                <a:latin typeface="+mj-lt"/>
              </a:rPr>
              <a:t>Dense-only → +BM25 fusion → +reranking, each stage benchmarked against the same NDCG@10 / MRR baseline on </a:t>
            </a:r>
            <a:r>
              <a:rPr sz="1400" b="0" dirty="0" err="1">
                <a:solidFill>
                  <a:srgbClr val="63637E"/>
                </a:solidFill>
                <a:latin typeface="+mj-lt"/>
              </a:rPr>
              <a:t>CoIR</a:t>
            </a:r>
            <a:r>
              <a:rPr sz="1400" b="0" dirty="0">
                <a:solidFill>
                  <a:srgbClr val="63637E"/>
                </a:solidFill>
                <a:latin typeface="+mj-lt"/>
              </a:rPr>
              <a:t> apps — shown live in the demo, not just claimed in this deck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700" b="1" dirty="0">
                <a:solidFill>
                  <a:srgbClr val="6D28D9"/>
                </a:solidFill>
                <a:latin typeface="+mj-lt"/>
              </a:rPr>
              <a:t>Dual routing solves both query types in the problem statement</a:t>
            </a:r>
          </a:p>
          <a:p>
            <a:pPr lvl="1">
              <a:lnSpc>
                <a:spcPct val="115000"/>
              </a:lnSpc>
              <a:spcAft>
                <a:spcPts val="1000"/>
              </a:spcAft>
            </a:pPr>
            <a:r>
              <a:rPr sz="1400" b="0" dirty="0">
                <a:solidFill>
                  <a:srgbClr val="63637E"/>
                </a:solidFill>
                <a:latin typeface="+mj-lt"/>
              </a:rPr>
              <a:t>Structural queries (“which files call X before Y”) go straight to an AST/call-graph engine; semantic queries go through hybrid retrieval + reranking — one pipeline isn't forced to do both jobs badly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5" name="Google Shape;155;p11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704EA6"/>
              </a:buClr>
              <a:buSzPts val="4400"/>
              <a:buFont typeface="Calibri"/>
              <a:buNone/>
            </a:pPr>
            <a:r>
              <a:rPr lang="en-US" b="1">
                <a:solidFill>
                  <a:srgbClr val="704EA6"/>
                </a:solidFill>
                <a:latin typeface="Calibri"/>
                <a:ea typeface="Calibri"/>
                <a:cs typeface="Calibri"/>
                <a:sym typeface="Calibri"/>
              </a:rPr>
              <a:t>Checklist- Updated on Public GitHub</a:t>
            </a:r>
            <a:endParaRPr/>
          </a:p>
        </p:txBody>
      </p:sp>
      <p:sp>
        <p:nvSpPr>
          <p:cNvPr id="156" name="Google Shape;156;p11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177800" indent="-177800" algn="l" rtl="0"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Clr>
                <a:srgbClr val="63637E"/>
              </a:buClr>
              <a:buSzPts val="2800"/>
              <a:buChar char="•"/>
            </a:pPr>
            <a:r>
              <a:rPr sz="1900" b="0" dirty="0">
                <a:solidFill>
                  <a:srgbClr val="14142B"/>
                </a:solidFill>
              </a:rPr>
              <a:t>Working prototype code — public or shared GitHub repo (Y/N)</a:t>
            </a:r>
            <a:r>
              <a:rPr lang="en-US" sz="1900" b="0" dirty="0">
                <a:solidFill>
                  <a:srgbClr val="14142B"/>
                </a:solidFill>
              </a:rPr>
              <a:t> Y</a:t>
            </a:r>
            <a:endParaRPr sz="2800" dirty="0"/>
          </a:p>
          <a:p>
            <a:pPr>
              <a:lnSpc>
                <a:spcPct val="115000"/>
              </a:lnSpc>
              <a:spcAft>
                <a:spcPts val="1600"/>
              </a:spcAft>
            </a:pPr>
            <a:r>
              <a:rPr sz="1900" b="0" dirty="0">
                <a:solidFill>
                  <a:srgbClr val="14142B"/>
                </a:solidFill>
              </a:rPr>
              <a:t>README with reproducible setup instructions (Y/N)</a:t>
            </a:r>
            <a:r>
              <a:rPr lang="en-US" sz="1900" b="0" dirty="0">
                <a:solidFill>
                  <a:srgbClr val="14142B"/>
                </a:solidFill>
              </a:rPr>
              <a:t> Y</a:t>
            </a:r>
            <a:endParaRPr sz="1900" b="0" dirty="0">
              <a:solidFill>
                <a:srgbClr val="14142B"/>
              </a:solidFill>
            </a:endParaRPr>
          </a:p>
          <a:p>
            <a:pPr>
              <a:lnSpc>
                <a:spcPct val="115000"/>
              </a:lnSpc>
              <a:spcAft>
                <a:spcPts val="1600"/>
              </a:spcAft>
            </a:pPr>
            <a:r>
              <a:rPr sz="1900" b="0" dirty="0">
                <a:solidFill>
                  <a:srgbClr val="14142B"/>
                </a:solidFill>
              </a:rPr>
              <a:t>Demo video, max 5 minutes (YouTube or Drive link)</a:t>
            </a:r>
          </a:p>
          <a:p>
            <a:pPr>
              <a:lnSpc>
                <a:spcPct val="115000"/>
              </a:lnSpc>
              <a:spcAft>
                <a:spcPts val="1600"/>
              </a:spcAft>
            </a:pPr>
            <a:r>
              <a:rPr sz="1900" b="0" dirty="0">
                <a:solidFill>
                  <a:srgbClr val="14142B"/>
                </a:solidFill>
              </a:rPr>
              <a:t>Presentation file (PPT or PDF) (Y/N)</a:t>
            </a:r>
            <a:r>
              <a:rPr lang="en-US" sz="1900" b="0" dirty="0">
                <a:solidFill>
                  <a:srgbClr val="14142B"/>
                </a:solidFill>
              </a:rPr>
              <a:t> Y</a:t>
            </a:r>
            <a:endParaRPr sz="1900" b="0" dirty="0">
              <a:solidFill>
                <a:srgbClr val="14142B"/>
              </a:solidFill>
            </a:endParaRPr>
          </a:p>
          <a:p>
            <a:pPr>
              <a:lnSpc>
                <a:spcPct val="115000"/>
              </a:lnSpc>
              <a:spcAft>
                <a:spcPts val="1600"/>
              </a:spcAft>
            </a:pPr>
            <a:r>
              <a:rPr sz="1900" b="0" dirty="0">
                <a:solidFill>
                  <a:srgbClr val="14142B"/>
                </a:solidFill>
              </a:rPr>
              <a:t>Release tag PRISM_GENAI_HACKATHON_Y2026 on final commit (Y/N)</a:t>
            </a:r>
            <a:r>
              <a:rPr lang="en-US" sz="1900" b="0" dirty="0">
                <a:solidFill>
                  <a:srgbClr val="14142B"/>
                </a:solidFill>
              </a:rPr>
              <a:t> </a:t>
            </a:r>
            <a:endParaRPr sz="1900" b="0" dirty="0">
              <a:solidFill>
                <a:srgbClr val="14142B"/>
              </a:solidFill>
            </a:endParaRPr>
          </a:p>
          <a:p>
            <a:pPr>
              <a:lnSpc>
                <a:spcPct val="115000"/>
              </a:lnSpc>
              <a:spcAft>
                <a:spcPts val="1600"/>
              </a:spcAft>
            </a:pPr>
            <a:r>
              <a:rPr sz="1900" b="0" dirty="0">
                <a:solidFill>
                  <a:srgbClr val="14142B"/>
                </a:solidFill>
              </a:rPr>
              <a:t>MTEB results JSON attached as GitHub release artifact (Y/N)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2" name="Google Shape;162;p12"/>
          <p:cNvSpPr txBox="1"/>
          <p:nvPr/>
        </p:nvSpPr>
        <p:spPr>
          <a:xfrm>
            <a:off x="1046181" y="3730214"/>
            <a:ext cx="6766560" cy="8686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4142B"/>
              </a:buClr>
              <a:buSzPts val="4600"/>
              <a:buFont typeface="Arial"/>
              <a:buNone/>
            </a:pPr>
            <a:r>
              <a:rPr lang="en-US" sz="4600" b="1" i="0" u="none" strike="noStrike" cap="none">
                <a:solidFill>
                  <a:srgbClr val="14142B"/>
                </a:solidFill>
                <a:latin typeface="Arial"/>
                <a:ea typeface="Arial"/>
                <a:cs typeface="Arial"/>
                <a:sym typeface="Arial"/>
              </a:rPr>
              <a:t>Thank you</a:t>
            </a:r>
            <a:endParaRPr sz="46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3" name="Google Shape;163;p12"/>
          <p:cNvSpPr txBox="1"/>
          <p:nvPr/>
        </p:nvSpPr>
        <p:spPr>
          <a:xfrm>
            <a:off x="777240" y="5897880"/>
            <a:ext cx="10607040" cy="29260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3637E"/>
              </a:buClr>
              <a:buSzPts val="1100"/>
              <a:buFont typeface="Calibri"/>
              <a:buNone/>
            </a:pPr>
            <a:r>
              <a:rPr lang="en-US" sz="1100" b="0" i="0" u="none" strike="noStrike" cap="none">
                <a:solidFill>
                  <a:srgbClr val="63637E"/>
                </a:solidFill>
                <a:latin typeface="Calibri"/>
                <a:ea typeface="Calibri"/>
                <a:cs typeface="Calibri"/>
                <a:sym typeface="Calibri"/>
              </a:rPr>
              <a:t>Organised by the Language AI Team and the PRISM Team, Samsung R&amp;D Institute India</a:t>
            </a:r>
            <a:endParaRPr sz="1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19</TotalTime>
  <Words>1512</Words>
  <Application>Microsoft Office PowerPoint</Application>
  <PresentationFormat>Widescreen</PresentationFormat>
  <Paragraphs>109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PowerPoint Presentation</vt:lpstr>
      <vt:lpstr>Theme</vt:lpstr>
      <vt:lpstr>Existing Solutions &amp; Gaps</vt:lpstr>
      <vt:lpstr>Our Solutions &amp; Architecture Diagram</vt:lpstr>
      <vt:lpstr>Demo &amp; Product Walkthrough</vt:lpstr>
      <vt:lpstr>Tools and tech stack used</vt:lpstr>
      <vt:lpstr>Impact &amp; Use case</vt:lpstr>
      <vt:lpstr>Innovation highlights, results and limitations</vt:lpstr>
      <vt:lpstr>What’s next</vt:lpstr>
      <vt:lpstr>Brownie points slide( differentiation)</vt:lpstr>
      <vt:lpstr>Checklist- Updated on Public GitHub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Binny Lakra/PRISM /SRI-Bangalore/Professional/Samsung Electronics</dc:creator>
  <cp:lastModifiedBy>Soumya Sharma</cp:lastModifiedBy>
  <cp:revision>2</cp:revision>
  <dcterms:created xsi:type="dcterms:W3CDTF">2026-09-07T12:01:01Z</dcterms:created>
  <dcterms:modified xsi:type="dcterms:W3CDTF">2026-09-30T19:06:01Z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NSCPROP">
    <vt:lpwstr>NSCCustomProperty</vt:lpwstr>
  </property>
</Properties>
</file>