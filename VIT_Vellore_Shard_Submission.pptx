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39" y="3310127"/>
            <a:ext cx="8619679" cy="300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700" dirty="0">
                <a:solidFill>
                  <a:srgbClr val="63637E"/>
                </a:solidFill>
              </a:rPr>
              <a:t>Theme ID - Theme 01: Agentic Code Intelligence</a:t>
            </a:r>
            <a:endParaRPr sz="1700" dirty="0"/>
          </a:p>
          <a:p>
            <a:pPr marL="177800" marR="0" lvl="0" indent="-177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700" dirty="0">
                <a:solidFill>
                  <a:srgbClr val="63637E"/>
                </a:solidFill>
              </a:rPr>
              <a:t>Team Name - Shard</a:t>
            </a:r>
            <a:endParaRPr sz="1700" dirty="0"/>
          </a:p>
          <a:p>
            <a:pPr marL="177800" marR="0" lvl="0" indent="-177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700" dirty="0">
                <a:solidFill>
                  <a:srgbClr val="63637E"/>
                </a:solidFill>
              </a:rPr>
              <a:t>College Name - VIT Vellore</a:t>
            </a:r>
            <a:endParaRPr sz="1700" dirty="0"/>
          </a:p>
          <a:p>
            <a:pPr marL="177800" marR="0" lvl="0" indent="-177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700" dirty="0">
                <a:solidFill>
                  <a:srgbClr val="63637E"/>
                </a:solidFill>
              </a:rPr>
              <a:t>Member Name &amp; Email 1 </a:t>
            </a:r>
            <a:r>
              <a:rPr lang="en-IN" sz="1700" dirty="0">
                <a:solidFill>
                  <a:srgbClr val="63637E"/>
                </a:solidFill>
              </a:rPr>
              <a:t>–</a:t>
            </a:r>
            <a:r>
              <a:rPr sz="1700" dirty="0">
                <a:solidFill>
                  <a:srgbClr val="63637E"/>
                </a:solidFill>
              </a:rPr>
              <a:t> </a:t>
            </a:r>
            <a:r>
              <a:rPr lang="en-US" sz="1700" dirty="0" err="1">
                <a:solidFill>
                  <a:srgbClr val="63637E"/>
                </a:solidFill>
              </a:rPr>
              <a:t>Samyakk</a:t>
            </a:r>
            <a:r>
              <a:rPr lang="en-US" sz="1700" dirty="0">
                <a:solidFill>
                  <a:srgbClr val="63637E"/>
                </a:solidFill>
              </a:rPr>
              <a:t> Jain</a:t>
            </a:r>
            <a:r>
              <a:rPr sz="1700" dirty="0">
                <a:solidFill>
                  <a:srgbClr val="63637E"/>
                </a:solidFill>
              </a:rPr>
              <a:t>&lt;</a:t>
            </a:r>
            <a:r>
              <a:rPr lang="en-US" sz="1700" dirty="0">
                <a:solidFill>
                  <a:srgbClr val="63637E"/>
                </a:solidFill>
              </a:rPr>
              <a:t>samyakkjain29@gmail.com</a:t>
            </a:r>
            <a:r>
              <a:rPr sz="1700" dirty="0">
                <a:solidFill>
                  <a:srgbClr val="63637E"/>
                </a:solidFill>
              </a:rPr>
              <a:t>&gt;</a:t>
            </a:r>
            <a:endParaRPr sz="1700" dirty="0"/>
          </a:p>
          <a:p>
            <a:pPr marL="177800" marR="0" lvl="0" indent="-177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700" dirty="0">
                <a:solidFill>
                  <a:srgbClr val="63637E"/>
                </a:solidFill>
              </a:rPr>
              <a:t>Member Name &amp; Email 2 </a:t>
            </a:r>
            <a:r>
              <a:rPr lang="en-IN" sz="1700" dirty="0">
                <a:solidFill>
                  <a:srgbClr val="63637E"/>
                </a:solidFill>
              </a:rPr>
              <a:t>–</a:t>
            </a:r>
            <a:r>
              <a:rPr sz="1700" dirty="0">
                <a:solidFill>
                  <a:srgbClr val="63637E"/>
                </a:solidFill>
              </a:rPr>
              <a:t> </a:t>
            </a:r>
            <a:r>
              <a:rPr lang="en-US" sz="1700" dirty="0">
                <a:solidFill>
                  <a:srgbClr val="63637E"/>
                </a:solidFill>
              </a:rPr>
              <a:t>Soumya Sharma</a:t>
            </a:r>
            <a:r>
              <a:rPr sz="1700" dirty="0">
                <a:solidFill>
                  <a:srgbClr val="63637E"/>
                </a:solidFill>
              </a:rPr>
              <a:t>&lt;</a:t>
            </a:r>
            <a:r>
              <a:rPr lang="en-US" sz="1700" dirty="0">
                <a:solidFill>
                  <a:srgbClr val="63637E"/>
                </a:solidFill>
              </a:rPr>
              <a:t>soumya122006@gmail.com</a:t>
            </a:r>
            <a:r>
              <a:rPr sz="1700" dirty="0">
                <a:solidFill>
                  <a:srgbClr val="63637E"/>
                </a:solidFill>
              </a:rPr>
              <a:t>&gt;</a:t>
            </a:r>
            <a:endParaRPr sz="1700" dirty="0"/>
          </a:p>
          <a:p>
            <a:pPr marL="177800" marR="0" lvl="0" indent="-177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700" dirty="0">
                <a:solidFill>
                  <a:srgbClr val="63637E"/>
                </a:solidFill>
              </a:rPr>
              <a:t>Member Name &amp; Email 3 </a:t>
            </a:r>
            <a:r>
              <a:rPr lang="en-IN" sz="1700" dirty="0">
                <a:solidFill>
                  <a:srgbClr val="63637E"/>
                </a:solidFill>
              </a:rPr>
              <a:t>–</a:t>
            </a:r>
            <a:r>
              <a:rPr sz="1700" dirty="0">
                <a:solidFill>
                  <a:srgbClr val="63637E"/>
                </a:solidFill>
              </a:rPr>
              <a:t> </a:t>
            </a:r>
            <a:r>
              <a:rPr lang="en-US" sz="1700" dirty="0">
                <a:solidFill>
                  <a:srgbClr val="63637E"/>
                </a:solidFill>
              </a:rPr>
              <a:t>Daksh Gupta</a:t>
            </a:r>
            <a:r>
              <a:rPr sz="1700" dirty="0">
                <a:solidFill>
                  <a:srgbClr val="63637E"/>
                </a:solidFill>
              </a:rPr>
              <a:t>&lt;</a:t>
            </a:r>
            <a:r>
              <a:rPr lang="en-US" sz="1700" dirty="0">
                <a:solidFill>
                  <a:srgbClr val="63637E"/>
                </a:solidFill>
              </a:rPr>
              <a:t>guptadaksh130@gmail.com</a:t>
            </a:r>
            <a:r>
              <a:rPr sz="1700" dirty="0">
                <a:solidFill>
                  <a:srgbClr val="63637E"/>
                </a:solidFill>
              </a:rPr>
              <a:t>&gt;</a:t>
            </a:r>
            <a:endParaRPr sz="1700" dirty="0"/>
          </a:p>
          <a:p>
            <a:pPr marL="177800" marR="0" lvl="0" indent="-177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700" dirty="0">
                <a:solidFill>
                  <a:srgbClr val="63637E"/>
                </a:solidFill>
              </a:rPr>
              <a:t>Submission GitHub link - github.com/soumya12-droid/</a:t>
            </a:r>
            <a:r>
              <a:rPr sz="1700" dirty="0" err="1">
                <a:solidFill>
                  <a:srgbClr val="63637E"/>
                </a:solidFill>
              </a:rPr>
              <a:t>Agentic_Code_Intelligence</a:t>
            </a:r>
            <a:endParaRPr sz="1700"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7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0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500000"/>
            <a:ext cx="10515600" cy="5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sz="1500" b="1">
                <a:solidFill>
                  <a:srgbClr val="6D28D9"/>
                </a:solidFill>
                <a:latin typeface="Arial"/>
              </a:rPr>
              <a:t>Theme 01 — Agentic Code Intelligence: retrieving the right code from a library too large for any LLM context window.</a:t>
            </a:r>
            <a:endParaRPr sz="1600" dirty="0"/>
          </a:p>
          <a:p>
            <a:pPr algn="l">
              <a:lnSpc>
                <a:spcPct val="115000"/>
              </a:lnSpc>
              <a:spcAft>
                <a:spcPts val="2400"/>
              </a:spcAft>
            </a:pPr>
            <a:r>
              <a:rPr sz="1400" b="0">
                <a:solidFill>
                  <a:srgbClr val="14142B"/>
                </a:solidFill>
                <a:latin typeface="Arial"/>
              </a:rPr>
              <a:t>Our approach: a multi-stage hybrid retrieval pipeline — dense embeddings + BM25, combined by weighted Reciprocal Rank Fusion — with one core mechanism, content-addressed snippet identity, carried through the whole system:</a:t>
            </a:r>
          </a:p>
          <a:p>
            <a:pPr lvl="1" algn="l">
              <a:lnSpc>
                <a:spcPct val="115000"/>
              </a:lnSpc>
              <a:spcAft>
                <a:spcPts val="2400"/>
              </a:spcAft>
            </a:pPr>
            <a:r>
              <a:rPr sz="1300" b="0">
                <a:solidFill>
                  <a:srgbClr val="63637E"/>
                </a:solidFill>
                <a:latin typeface="Arial"/>
              </a:rPr>
              <a:t>Accuracy: query routed to a structural (AST/call-graph) or semantic path; semantic queries get dense + BM25 combined by weighted RRF — a cross-encoder reranker was evaluated and dropped after it regressed NDCG@10</a:t>
            </a:r>
          </a:p>
          <a:p>
            <a:pPr lvl="1" algn="l">
              <a:lnSpc>
                <a:spcPct val="115000"/>
              </a:lnSpc>
              <a:spcAft>
                <a:spcPts val="2400"/>
              </a:spcAft>
            </a:pPr>
            <a:r>
              <a:rPr sz="1300" b="0">
                <a:solidFill>
                  <a:srgbClr val="63637E"/>
                </a:solidFill>
                <a:latin typeface="Arial"/>
              </a:rPr>
              <a:t>Versioning: snippet_id = hash(normalized code) means unchanged functions never get touched on reindex — only real diffs are re-embedded, so rebuild time stays close to the size of the change, not the size of the repo</a:t>
            </a:r>
          </a:p>
          <a:p>
            <a:pPr lvl="1" algn="l">
              <a:lnSpc>
                <a:spcPct val="115000"/>
              </a:lnSpc>
              <a:spcAft>
                <a:spcPts val="2400"/>
              </a:spcAft>
            </a:pPr>
            <a:r>
              <a:rPr sz="1300" b="0">
                <a:solidFill>
                  <a:srgbClr val="63637E"/>
                </a:solidFill>
                <a:latin typeface="Arial"/>
              </a:rPr>
              <a:t>Evolutionary retrieval: the same content-addressed IDs form lineage chains across versions, so near-duplicate edits of one function get grouped instead of crowding out genuinely distinct results</a:t>
            </a:r>
          </a:p>
          <a:p>
            <a:pPr algn="l">
              <a:lnSpc>
                <a:spcPct val="115000"/>
              </a:lnSpc>
              <a:spcAft>
                <a:spcPts val="2400"/>
              </a:spcAft>
            </a:pPr>
            <a:r>
              <a:rPr sz="1400" b="1">
                <a:solidFill>
                  <a:srgbClr val="6D28D9"/>
                </a:solidFill>
                <a:latin typeface="Arial"/>
              </a:rPr>
              <a:t>One design decision — content addressing — drives accuracy, fast reindexing, and cross-version ranking together, instead of three separate bolted-on features. That's the whole pitch of this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0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500000"/>
            <a:ext cx="10515600" cy="5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5080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None/>
            </a:pPr>
            <a:r>
              <a:rPr sz="1600" b="1" dirty="0">
                <a:solidFill>
                  <a:srgbClr val="6D28D9"/>
                </a:solidFill>
              </a:rPr>
              <a:t>How code retrieval is commonly approached — and where it breaks down</a:t>
            </a:r>
            <a:endParaRPr sz="180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14142B"/>
                </a:solidFill>
              </a:rPr>
              <a:t>Single dense embedding model + cosine similarity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400" b="0" dirty="0">
                <a:solidFill>
                  <a:srgbClr val="63637E"/>
                </a:solidFill>
              </a:rPr>
              <a:t>Fast to build, but misses exact identifier/keyword matches (vocabulary mismatch between natural language and code); no answer for structural questions like “which files call X before Y”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14142B"/>
                </a:solidFill>
              </a:rPr>
              <a:t>LLM-in-the-loop ranking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400" b="0" dirty="0">
                <a:solidFill>
                  <a:srgbClr val="63637E"/>
                </a:solidFill>
              </a:rPr>
              <a:t>Explicitly ruled out by the problem statement — thousands of snippets can't fit in any context window, and it's too slow for a retrieval-first step in a RAG pipeline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14142B"/>
                </a:solidFill>
              </a:rPr>
              <a:t>Full re-embedding on every commit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400" b="0" dirty="0">
                <a:solidFill>
                  <a:srgbClr val="63637E"/>
                </a:solidFill>
              </a:rPr>
              <a:t>Correct but doesn't scale — codebases change constantly, and the P1 goal explicitly requires indexes to rebuild in a “reasonable amount of time,” not from scratch every time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 dirty="0">
                <a:solidFill>
                  <a:srgbClr val="14142B"/>
                </a:solidFill>
              </a:rPr>
              <a:t>Treating every code version independently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400" b="0" dirty="0">
                <a:solidFill>
                  <a:srgbClr val="63637E"/>
                </a:solidFill>
              </a:rPr>
              <a:t>Near-identical snippets across versions crowd out genuinely distinct results — a hard ranking problem the Bonus goal calls out directly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0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838200" y="1450000"/>
            <a:ext cx="105156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400" b="1">
                <a:solidFill>
                  <a:srgbClr val="14142B"/>
                </a:solidFill>
                <a:latin typeface="Arial"/>
              </a:rPr>
              <a:t>Multi-stage hybrid retrieval: recall-focused candidate generation, then weighted fusion.</a:t>
            </a:r>
            <a:endParaRPr sz="1600" dirty="0"/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0">
                <a:solidFill>
                  <a:srgbClr val="63637E"/>
                </a:solidFill>
                <a:latin typeface="Arial"/>
              </a:rPr>
              <a:t>Query is routed to a structural path (AST/call-graph) or a semantic path (dense + BM25, combined by weighted Reciprocal Rank Fusion) based on query type. A cross-encoder reranker was evaluated and dropped — see Results.</a:t>
            </a:r>
          </a:p>
        </p:txBody>
      </p:sp>
      <p:pic>
        <p:nvPicPr>
          <p:cNvPr id="115" name="Picture 114" descr="diagram_p0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306" y="2750000"/>
            <a:ext cx="9459388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000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 dirty="0"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703691"/>
            <a:ext cx="10515600" cy="478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600" b="1" dirty="0">
                <a:solidFill>
                  <a:srgbClr val="6D28D9"/>
                </a:solidFill>
                <a:latin typeface="Arial"/>
              </a:rPr>
              <a:t>Live demo covers:</a:t>
            </a:r>
            <a:endParaRPr sz="1800" dirty="0"/>
          </a:p>
          <a:p>
            <a:pPr lvl="1" algn="l">
              <a:lnSpc>
                <a:spcPct val="115000"/>
              </a:lnSpc>
              <a:spcAft>
                <a:spcPts val="1200"/>
              </a:spcAft>
            </a:pPr>
            <a:r>
              <a:rPr sz="1400" b="0" dirty="0">
                <a:solidFill>
                  <a:srgbClr val="63637E"/>
                </a:solidFill>
                <a:latin typeface="Arial"/>
              </a:rPr>
              <a:t>A natural-language query run end-to-end against the shipped pipeline — not just final numbers, the actual ranked snippet output</a:t>
            </a:r>
          </a:p>
          <a:p>
            <a:pPr lvl="1" algn="l">
              <a:lnSpc>
                <a:spcPct val="115000"/>
              </a:lnSpc>
              <a:spcAft>
                <a:spcPts val="1200"/>
              </a:spcAft>
            </a:pPr>
            <a:r>
              <a:rPr sz="1400" b="0" dirty="0">
                <a:solidFill>
                  <a:srgbClr val="63637E"/>
                </a:solidFill>
                <a:latin typeface="Arial"/>
              </a:rPr>
              <a:t>Ablation, shown live: dense-only vs. +BM25 weighted RRF fusion (the shipped pipeline) vs. +cross-encoder reranking (evaluated, regressed, dropped) — same query, three configurations</a:t>
            </a:r>
          </a:p>
          <a:p>
            <a:pPr lvl="1" algn="l">
              <a:lnSpc>
                <a:spcPct val="115000"/>
              </a:lnSpc>
              <a:spcAft>
                <a:spcPts val="1200"/>
              </a:spcAft>
            </a:pPr>
            <a:r>
              <a:rPr sz="1400" b="0" dirty="0">
                <a:solidFill>
                  <a:srgbClr val="63637E"/>
                </a:solidFill>
                <a:latin typeface="Arial"/>
              </a:rPr>
              <a:t>Structural queries: “who calls X” / “what does X call” / “X before Y” answered directly via the AST/call-graph engine (scripts/demo_structural.py)</a:t>
            </a:r>
          </a:p>
          <a:p>
            <a:pPr lvl="1" algn="l">
              <a:lnSpc>
                <a:spcPct val="115000"/>
              </a:lnSpc>
              <a:spcAft>
                <a:spcPts val="1200"/>
              </a:spcAft>
            </a:pPr>
            <a:r>
              <a:rPr sz="1400" b="0" dirty="0">
                <a:solidFill>
                  <a:srgbClr val="63637E"/>
                </a:solidFill>
                <a:latin typeface="Arial"/>
              </a:rPr>
              <a:t>P1 in action: a single-file change triggers incremental reindexing — only the changed snippet is re-embedded, timed against a full rebuild (scripts/benchmark_reindex.py)</a:t>
            </a:r>
          </a:p>
          <a:p>
            <a:pPr lvl="1" algn="l">
              <a:lnSpc>
                <a:spcPct val="115000"/>
              </a:lnSpc>
              <a:spcAft>
                <a:spcPts val="1200"/>
              </a:spcAft>
            </a:pPr>
            <a:r>
              <a:rPr sz="1400" b="0" dirty="0">
                <a:solidFill>
                  <a:srgbClr val="63637E"/>
                </a:solidFill>
                <a:latin typeface="Arial"/>
              </a:rPr>
              <a:t>Bonus in action: a cross-version query returns lineage-grouped results instead of near-duplicate clutter (scripts/demo_lineage.py)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000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 dirty="0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838200" y="1260000"/>
            <a:ext cx="5100000" cy="55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1" dirty="0">
                <a:solidFill>
                  <a:srgbClr val="14142B"/>
                </a:solidFill>
                <a:latin typeface="Arial"/>
              </a:rPr>
              <a:t>▸ Embedding model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400" b="0" dirty="0">
                <a:solidFill>
                  <a:srgbClr val="63637E"/>
                </a:solidFill>
                <a:latin typeface="Arial"/>
              </a:rPr>
              <a:t>bge-small-en-v1.5 — switched from jina-embeddings-v2-base-code, which was too slow on CPU (2+ </a:t>
            </a:r>
            <a:r>
              <a:rPr sz="1400" b="0" dirty="0" err="1">
                <a:solidFill>
                  <a:srgbClr val="63637E"/>
                </a:solidFill>
                <a:latin typeface="Arial"/>
              </a:rPr>
              <a:t>hr</a:t>
            </a:r>
            <a:r>
              <a:rPr sz="1400" b="0" dirty="0">
                <a:solidFill>
                  <a:srgbClr val="63637E"/>
                </a:solidFill>
                <a:latin typeface="Arial"/>
              </a:rPr>
              <a:t> for a full eval pass)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600" b="1" dirty="0">
                <a:solidFill>
                  <a:srgbClr val="14142B"/>
                </a:solidFill>
                <a:latin typeface="Arial"/>
              </a:rPr>
              <a:t>▸ Sparse retrieval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400" b="0" dirty="0">
                <a:solidFill>
                  <a:srgbClr val="63637E"/>
                </a:solidFill>
                <a:latin typeface="Arial"/>
              </a:rPr>
              <a:t>Custom fast BM25, precomputed inverted index — full query set in ~5s vs. hours for naive rank_bm25 on long queries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600" b="1" dirty="0">
                <a:solidFill>
                  <a:srgbClr val="14142B"/>
                </a:solidFill>
                <a:latin typeface="Arial"/>
              </a:rPr>
              <a:t>▸ Fusion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400" b="0" dirty="0">
                <a:solidFill>
                  <a:srgbClr val="63637E"/>
                </a:solidFill>
                <a:latin typeface="Arial"/>
              </a:rPr>
              <a:t>Weighted Reciprocal Rank Fusion, hand-rolled (BM25 weight 0.3, dense 1.0) — this is the shipped pipeline, NDCG@10 0.0597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600" b="1" dirty="0">
                <a:solidFill>
                  <a:srgbClr val="14142B"/>
                </a:solidFill>
                <a:latin typeface="Arial"/>
              </a:rPr>
              <a:t>▸ </a:t>
            </a:r>
            <a:r>
              <a:rPr sz="1600" b="1" dirty="0" err="1">
                <a:solidFill>
                  <a:srgbClr val="14142B"/>
                </a:solidFill>
                <a:latin typeface="Arial"/>
              </a:rPr>
              <a:t>Reranker</a:t>
            </a:r>
            <a:endParaRPr sz="1600" b="1" dirty="0">
              <a:solidFill>
                <a:srgbClr val="14142B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400" b="0" dirty="0">
                <a:solidFill>
                  <a:srgbClr val="63637E"/>
                </a:solidFill>
                <a:latin typeface="Arial"/>
              </a:rPr>
              <a:t>None in the shipped pipeline — </a:t>
            </a:r>
            <a:r>
              <a:rPr sz="1400" b="0" dirty="0" err="1">
                <a:solidFill>
                  <a:srgbClr val="63637E"/>
                </a:solidFill>
                <a:latin typeface="Arial"/>
              </a:rPr>
              <a:t>bge</a:t>
            </a:r>
            <a:r>
              <a:rPr sz="1400" b="0" dirty="0">
                <a:solidFill>
                  <a:srgbClr val="63637E"/>
                </a:solidFill>
                <a:latin typeface="Arial"/>
              </a:rPr>
              <a:t>-</a:t>
            </a:r>
            <a:r>
              <a:rPr sz="1400" b="0" dirty="0" err="1">
                <a:solidFill>
                  <a:srgbClr val="63637E"/>
                </a:solidFill>
                <a:latin typeface="Arial"/>
              </a:rPr>
              <a:t>reranker</a:t>
            </a:r>
            <a:r>
              <a:rPr sz="1400" b="0" dirty="0">
                <a:solidFill>
                  <a:srgbClr val="63637E"/>
                </a:solidFill>
                <a:latin typeface="Arial"/>
              </a:rPr>
              <a:t>-base (too slow, ~11.6h/full split) and MiniLM-L6-v2 (fast enough, but regressed NDCG@10 to 0.0528) were both evaluated and rejected</a:t>
            </a:r>
          </a:p>
        </p:txBody>
      </p:sp>
      <p:sp>
        <p:nvSpPr>
          <p:cNvPr id="164" name="TextBox 126"/>
          <p:cNvSpPr txBox="1">
            <a:spLocks noGrp="1"/>
          </p:cNvSpPr>
          <p:nvPr/>
        </p:nvSpPr>
        <p:spPr>
          <a:xfrm>
            <a:off x="6250000" y="1260000"/>
            <a:ext cx="5100000" cy="55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1" dirty="0">
                <a:solidFill>
                  <a:srgbClr val="14142B"/>
                </a:solidFill>
                <a:latin typeface="Arial"/>
              </a:rPr>
              <a:t>▸ Vector store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dirty="0">
                <a:solidFill>
                  <a:srgbClr val="63637E"/>
                </a:solidFill>
                <a:latin typeface="Arial"/>
              </a:rPr>
              <a:t>FAISS, </a:t>
            </a:r>
            <a:r>
              <a:rPr sz="1400" b="0" dirty="0" err="1">
                <a:solidFill>
                  <a:srgbClr val="63637E"/>
                </a:solidFill>
                <a:latin typeface="Arial"/>
              </a:rPr>
              <a:t>IndexIDMap</a:t>
            </a:r>
            <a:r>
              <a:rPr sz="1400" b="0" dirty="0">
                <a:solidFill>
                  <a:srgbClr val="63637E"/>
                </a:solidFill>
                <a:latin typeface="Arial"/>
              </a:rPr>
              <a:t> — local, no server dependency; supports incremental add/remove for P1 versioning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 dirty="0">
                <a:solidFill>
                  <a:srgbClr val="14142B"/>
                </a:solidFill>
                <a:latin typeface="Arial"/>
              </a:rPr>
              <a:t>▸ Code parsing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dirty="0">
                <a:solidFill>
                  <a:srgbClr val="63637E"/>
                </a:solidFill>
                <a:latin typeface="Arial"/>
              </a:rPr>
              <a:t>tree-sitter, JS + Python grammars — function/block-level extraction, call-graph queries, and content-hash snippet identity for versioning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 dirty="0">
                <a:solidFill>
                  <a:srgbClr val="14142B"/>
                </a:solidFill>
                <a:latin typeface="Arial"/>
              </a:rPr>
              <a:t>▸ Metadata store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dirty="0">
                <a:solidFill>
                  <a:srgbClr val="63637E"/>
                </a:solidFill>
                <a:latin typeface="Arial"/>
              </a:rPr>
              <a:t>SQLite — snippet/version bookkeeping, lineage chains (union-find over edit history), no server needed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 dirty="0">
                <a:solidFill>
                  <a:srgbClr val="14142B"/>
                </a:solidFill>
                <a:latin typeface="Arial"/>
              </a:rPr>
              <a:t>▸ Evaluation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dirty="0">
                <a:solidFill>
                  <a:srgbClr val="63637E"/>
                </a:solidFill>
                <a:latin typeface="Arial"/>
              </a:rPr>
              <a:t>MTEB library, </a:t>
            </a:r>
            <a:r>
              <a:rPr sz="1400" b="0" dirty="0" err="1">
                <a:solidFill>
                  <a:srgbClr val="63637E"/>
                </a:solidFill>
                <a:latin typeface="Arial"/>
              </a:rPr>
              <a:t>AppsRetrieval</a:t>
            </a:r>
            <a:r>
              <a:rPr sz="1400" b="0" dirty="0">
                <a:solidFill>
                  <a:srgbClr val="63637E"/>
                </a:solidFill>
                <a:latin typeface="Arial"/>
              </a:rPr>
              <a:t> task — official submission format; cold-clone reproduced bit-identical scores across two dependency versions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 dirty="0">
                <a:solidFill>
                  <a:srgbClr val="14142B"/>
                </a:solidFill>
                <a:latin typeface="Arial"/>
              </a:rPr>
              <a:t>▸ Orchestration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dirty="0">
                <a:solidFill>
                  <a:srgbClr val="63637E"/>
                </a:solidFill>
                <a:latin typeface="Arial"/>
              </a:rPr>
              <a:t>Plain Python, no heavy framework — kept </a:t>
            </a:r>
            <a:r>
              <a:rPr sz="1400" b="0" dirty="0" err="1">
                <a:solidFill>
                  <a:srgbClr val="63637E"/>
                </a:solidFill>
                <a:latin typeface="Arial"/>
              </a:rPr>
              <a:t>debuggable</a:t>
            </a:r>
            <a:r>
              <a:rPr sz="1400" b="0" dirty="0">
                <a:solidFill>
                  <a:srgbClr val="63637E"/>
                </a:solidFill>
                <a:latin typeface="Arial"/>
              </a:rPr>
              <a:t> and fast; no fallback-model indirection (removed as dead code)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0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500000"/>
            <a:ext cx="10515600" cy="5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indent="-28575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40000"/>
            </a:pPr>
            <a:r>
              <a:rPr sz="1600" b="1" dirty="0">
                <a:solidFill>
                  <a:srgbClr val="6D28D9"/>
                </a:solidFill>
              </a:rPr>
              <a:t>Who this helps</a:t>
            </a:r>
            <a:endParaRPr sz="1800" dirty="0"/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400" b="0" dirty="0">
                <a:solidFill>
                  <a:srgbClr val="63637E"/>
                </a:solidFill>
              </a:rPr>
              <a:t>Any AI coding agent or developer tool that needs to find the right code in a codebase too large to fit in an LLM's context window — the exact scenario in the problem statement (voice-assistant codebases with dozens of agents spread across thousands of files)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 dirty="0">
                <a:solidFill>
                  <a:srgbClr val="6D28D9"/>
                </a:solidFill>
              </a:rPr>
              <a:t>Why it matters beyond the hackathon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400" b="0" dirty="0">
                <a:solidFill>
                  <a:srgbClr val="63637E"/>
                </a:solidFill>
              </a:rPr>
              <a:t>Retrieval is the bottleneck step in any RAG-for-code pipeline — faster, more accurate retrieval speeds up bug localization, code review, and onboarding to unfamiliar codebases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400" b="0" dirty="0">
                <a:solidFill>
                  <a:srgbClr val="63637E"/>
                </a:solidFill>
              </a:rPr>
              <a:t>Codebases change constantly; a system that can't keep pace with commits without full rebuilds doesn't survive production — why we treated P1 as a first-class requirement, not an afterthought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 dirty="0">
                <a:solidFill>
                  <a:srgbClr val="6D28D9"/>
                </a:solidFill>
              </a:rPr>
              <a:t>Concrete use case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400" b="0" dirty="0">
                <a:solidFill>
                  <a:srgbClr val="63637E"/>
                </a:solidFill>
              </a:rPr>
              <a:t>A developer asks “where is Bluetooth pairing handled?” or “which files call the auth token refresh before the API call?” and gets precise, ranked, file-and-line-level answers — instead of manually grepping thousands of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000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 dirty="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838200" y="1250000"/>
            <a:ext cx="10515600" cy="2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D28D9"/>
                </a:solidFill>
                <a:latin typeface="Arial"/>
              </a:rPr>
              <a:t>Innovation: content-addressed, diff-driven indexing</a:t>
            </a:r>
          </a:p>
          <a:p>
            <a:pPr lvl="1"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63637E"/>
                </a:solidFill>
                <a:latin typeface="Arial"/>
              </a:rPr>
              <a:t>snippet_id = hash(AST-structural code) — unchanged functions keep their ID across versions; only real diffs are re-embedded. One mechanism drives both P1 reindexing and Bonus lineage grouping.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14142B"/>
                </a:solidFill>
                <a:latin typeface="Arial"/>
              </a:rPr>
              <a:t>Results: dense-only 0.0564 → +BM25 weighted RRF 0.0597 (shipped) → +MiniLM rerank 0.0528 (regressed, rejected). bge-reranker-base also rejected as too slow (~11.6h/full split).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14142B"/>
                </a:solidFill>
                <a:latin typeface="Arial"/>
              </a:rPr>
              <a:t>P1: incremental reindex flat at 2–5s regardless of repo size (500–2,000 files, ≥18–67× faster than full rebuild); exactly 1 snippet re-embedded for a 1-file change.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14142B"/>
                </a:solidFill>
                <a:latin typeface="Arial"/>
              </a:rPr>
              <a:t>Bonus: lineage grouping removed 100% of redundant near-duplicate slots in a scale test, 0 lineages ever dropped. Limitations and caveats are in the README/reproducibility audit.</a:t>
            </a:r>
          </a:p>
        </p:txBody>
      </p:sp>
      <p:pic>
        <p:nvPicPr>
          <p:cNvPr id="139" name="Picture 138" descr="diagram_p1_versio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603" y="3750000"/>
            <a:ext cx="7818794" cy="29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0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>
            <a:off x="838200" y="1611615"/>
            <a:ext cx="10515600" cy="522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4142B"/>
                </a:solidFill>
                <a:latin typeface="Arial"/>
              </a:rPr>
              <a:t>Extend structural query coverage</a:t>
            </a:r>
            <a:endParaRPr dirty="0"/>
          </a:p>
          <a:p>
            <a:pPr lvl="1"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63637E"/>
                </a:solidFill>
                <a:latin typeface="Arial"/>
              </a:rPr>
              <a:t>Broader call-graph pattern support; rename+edit lineage linking (currently breaks the chain by design, documented as a known limit)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4142B"/>
                </a:solidFill>
                <a:latin typeface="Arial"/>
              </a:rPr>
              <a:t>Move BM25 to an incrementally-updatable engine</a:t>
            </a:r>
          </a:p>
          <a:p>
            <a:pPr lvl="1"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63637E"/>
                </a:solidFill>
                <a:latin typeface="Arial"/>
              </a:rPr>
              <a:t>e.g. Tantivy/Whoosh, if rebuild time becomes measurable at larger corpus scale — not needed yet (rebuild is ~1s of a 2–5s incremental update)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4142B"/>
                </a:solidFill>
                <a:latin typeface="Arial"/>
              </a:rPr>
              <a:t>Multi-language support beyond JS + Python</a:t>
            </a:r>
          </a:p>
          <a:p>
            <a:pPr lvl="1"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63637E"/>
                </a:solidFill>
                <a:latin typeface="Arial"/>
              </a:rPr>
              <a:t>tree-sitter grammar swap, not an architecture change — already proven across two languages sharing one extractor interface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4142B"/>
                </a:solidFill>
                <a:latin typeface="Arial"/>
              </a:rPr>
              <a:t>Query expansion</a:t>
            </a:r>
          </a:p>
          <a:p>
            <a:pPr lvl="1"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63637E"/>
                </a:solidFill>
                <a:latin typeface="Arial"/>
              </a:rPr>
              <a:t>Not built this round (out of scope for the submitted pipeline); would need its own recall-impact evaluation before adding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4142B"/>
                </a:solidFill>
                <a:latin typeface="Arial"/>
              </a:rPr>
              <a:t>Package the pipeline as a reusable retrieval service/API</a:t>
            </a:r>
          </a:p>
          <a:p>
            <a:pPr lvl="1"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63637E"/>
                </a:solidFill>
                <a:latin typeface="Arial"/>
              </a:rPr>
              <a:t>So it can sit behind any coding agent, not just this evaluation harness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000" b="1">
                <a:solidFill>
                  <a:srgbClr val="704EA6"/>
                </a:solidFill>
              </a:rPr>
              <a:t>Brownie Points — Differentiation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200" y="1500000"/>
            <a:ext cx="10515600" cy="53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600" b="1">
                <a:solidFill>
                  <a:srgbClr val="6D28D9"/>
                </a:solidFill>
                <a:latin typeface="Arial"/>
              </a:rPr>
              <a:t>One idea, three goals solved</a:t>
            </a:r>
            <a:endParaRPr dirty="0">
              <a:latin typeface="+mj-lt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4142B"/>
                </a:solidFill>
                <a:latin typeface="Arial"/>
              </a:rPr>
              <a:t>Content-addressed snippet identity — snippet_id = hash(normalized code) — is the single mechanism behind both P1 and Bonus, not two bolted-on features:</a:t>
            </a:r>
          </a:p>
          <a:p>
            <a:pPr lvl="1"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63637E"/>
                </a:solidFill>
                <a:latin typeface="Arial"/>
              </a:rPr>
              <a:t>Unchanged functions keep their ID across versions → P1's fast reindexing falls out for free (2–5s incremental vs. minutes for a full rebuild)</a:t>
            </a:r>
          </a:p>
          <a:p>
            <a:pPr lvl="1"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63637E"/>
                </a:solidFill>
                <a:latin typeface="Arial"/>
              </a:rPr>
              <a:t>Edits to the same function form a lineage chain → Bonus's cross-version ranking groups by lineage instead of post-hoc deduplication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6D28D9"/>
                </a:solidFill>
                <a:latin typeface="Arial"/>
              </a:rPr>
              <a:t>Every architectural choice is a measured number, not intuition</a:t>
            </a:r>
          </a:p>
          <a:p>
            <a:pPr lvl="1"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63637E"/>
                </a:solidFill>
                <a:latin typeface="Arial"/>
              </a:rPr>
              <a:t>Dense-only → +BM25 weighted fusion → +reranking, each stage benchmarked on the same NDCG@10/MRR baseline on CoIR apps — including the honest result that reranking regressed quality and was dropped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6D28D9"/>
                </a:solidFill>
                <a:latin typeface="Arial"/>
              </a:rPr>
              <a:t>Dual routing solves both query types in the problem statement</a:t>
            </a:r>
          </a:p>
          <a:p>
            <a:pPr lvl="1"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63637E"/>
                </a:solidFill>
                <a:latin typeface="Arial"/>
              </a:rPr>
              <a:t>Structural queries (“which files call X before Y”) go straight to an AST/call-graph engine; semantic queries go through hybrid retrieval — one pipeline isn't forced to do both jobs badly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6D28D9"/>
                </a:solidFill>
                <a:latin typeface="Arial"/>
              </a:rPr>
              <a:t>Reproducibility, verified not claimed</a:t>
            </a:r>
          </a:p>
          <a:p>
            <a:pPr lvl="1"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63637E"/>
                </a:solidFill>
                <a:latin typeface="Arial"/>
              </a:rPr>
              <a:t>Cold-clone audit reproduced the submission bit-identically across two dependency versions (mteb 2.21.10/2.22.2, torch 2.14.0/2.14.1) — 0 of 149 scores differed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0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0" dirty="0">
                <a:solidFill>
                  <a:srgbClr val="14142B"/>
                </a:solidFill>
                <a:latin typeface="Arial"/>
              </a:rPr>
              <a:t>Working prototype code — public or shared GitHub repo (Y/N)  Y</a:t>
            </a:r>
            <a:endParaRPr sz="2800" dirty="0"/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dirty="0">
                <a:solidFill>
                  <a:srgbClr val="14142B"/>
                </a:solidFill>
                <a:latin typeface="Arial"/>
              </a:rPr>
              <a:t>README with reproducible setup instructions (Y/N)  Y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dirty="0">
                <a:solidFill>
                  <a:srgbClr val="14142B"/>
                </a:solidFill>
                <a:latin typeface="Arial"/>
              </a:rPr>
              <a:t>Demo video, max 5 minutes (YouTube or Drive link) </a:t>
            </a:r>
            <a:endParaRPr lang="en-US" sz="1400" b="0" dirty="0">
              <a:solidFill>
                <a:srgbClr val="14142B"/>
              </a:solidFill>
              <a:latin typeface="Arial"/>
            </a:endParaRP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dirty="0">
                <a:solidFill>
                  <a:srgbClr val="14142B"/>
                </a:solidFill>
                <a:latin typeface="Arial"/>
              </a:rPr>
              <a:t>Presentation file (PPT or PDF) (Y/N)  Y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dirty="0">
                <a:solidFill>
                  <a:srgbClr val="14142B"/>
                </a:solidFill>
                <a:latin typeface="Arial"/>
              </a:rPr>
              <a:t>Release tag PRISM_GENAI_HACKATHON_Y2026 on final commit (Y/N)  Y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dirty="0">
                <a:solidFill>
                  <a:srgbClr val="14142B"/>
                </a:solidFill>
                <a:latin typeface="Arial"/>
              </a:rPr>
              <a:t>MTEB results JSON attached as GitHub release artifact (Y/N)  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1724</Words>
  <Application>Microsoft Office PowerPoint</Application>
  <PresentationFormat>Widescreen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— Differentiation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Code Intelligence — Team Shard</dc:title>
  <dc:subject>Samsung PRISM GenAI Hackathon Y2026 — Theme 01</dc:subject>
  <dc:creator>Shard</dc:creator>
  <dc:description/>
  <cp:lastModifiedBy>Soumya Sharma</cp:lastModifiedBy>
  <cp:revision>3</cp:revision>
  <dcterms:created xsi:type="dcterms:W3CDTF">2026-09-07T12:01:01Z</dcterms:created>
  <dcterms:modified xsi:type="dcterms:W3CDTF">2026-10-04T21:47:59Z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